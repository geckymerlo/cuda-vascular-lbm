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aleway"/>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italic.fntdata"/><Relationship Id="rId10" Type="http://schemas.openxmlformats.org/officeDocument/2006/relationships/slide" Target="slides/slide5.xml"/><Relationship Id="rId32" Type="http://schemas.openxmlformats.org/officeDocument/2006/relationships/font" Target="fonts/Raleway-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Raleway-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1fb934e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1fb934e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1fb934ef9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1fb934ef9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4ca213b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4ca213b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4ca213b29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4ca213b29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4ca213b29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4ca213b29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4ca213b29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4ca213b29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1fb934ef9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1fb934ef9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4bfbdb5e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4bfbdb5e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4c498a0b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4c498a0b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4c498a0b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4c498a0b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4c498a0b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4c498a0b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4df6e79a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f4df6e79a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4c498a0b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f4c498a0b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4c498a0b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f4c498a0b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4c498a0b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f4c498a0b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4c498a0b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f4c498a0b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4d829a4db_2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f4d829a4db_2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4d829a4db_28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f4d829a4db_28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4d829a4db_28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f4d829a4db_28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4d829a4db_28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f4d829a4db_28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5227b115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f5227b115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5227b11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f5227b11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5227b115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f5227b115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1fb934ef9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1fb934ef9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4d829a4db_9_0)">
  <p:cSld name="Title and body (g3f4d829a4db_9_0)">
    <p:spTree>
      <p:nvGrpSpPr>
        <p:cNvPr id="82" name="Shape 82"/>
        <p:cNvGrpSpPr/>
        <p:nvPr/>
      </p:nvGrpSpPr>
      <p:grpSpPr>
        <a:xfrm>
          <a:off x="0" y="0"/>
          <a:ext cx="0" cy="0"/>
          <a:chOff x="0" y="0"/>
          <a:chExt cx="0" cy="0"/>
        </a:xfrm>
      </p:grpSpPr>
      <p:sp>
        <p:nvSpPr>
          <p:cNvPr id="83" name="Google Shape;83;p13"/>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4" name="Google Shape;84;p1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5" name="Google Shape;85;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6.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drive.google.com/file/d/1gZKVYTS6MjZyR_AzfwOlhw_5QXWSVgAO/view" TargetMode="External"/><Relationship Id="rId4" Type="http://schemas.openxmlformats.org/officeDocument/2006/relationships/image" Target="../media/image10.png"/><Relationship Id="rId5"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cs.pool.fau.de" TargetMode="Externa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3.png"/><Relationship Id="rId5"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hyperlink" Target="http://cs.pool.fau.d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Blood Vessel Simulation</a:t>
            </a:r>
            <a:endParaRPr/>
          </a:p>
        </p:txBody>
      </p:sp>
      <p:sp>
        <p:nvSpPr>
          <p:cNvPr id="91" name="Google Shape;91;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HESP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a:t>
            </a:r>
            <a:endParaRPr/>
          </a:p>
        </p:txBody>
      </p:sp>
      <p:pic>
        <p:nvPicPr>
          <p:cNvPr descr="flowchart LR&#10;    START([Start]) --&gt; INIT[Load domain&lt;br/&gt;Initialize LBM&lt;br/&gt;Allocate particles]&#10;    INIT --&gt; STEP{Steps remaining?}&#10;    STEP -- No --&gt; END([Write final output&lt;br/&gt;Stop])&#10;    STEP -- Yes --&gt; ENABLED{Particles enabled?}&#10;&#10;    ENABLED -- No --&gt; LBM&#10;    ENABLED -- Yes --&gt; INJECT[Inject particles&lt;br/&gt;using inlet velocity]&#10;    INJECT --&gt; RESET_FLUID[Reset LBM&lt;br/&gt;body forces]&#10;    RESET_FLUID &#10;--&gt; PARTICLE[&quot;Particle Steps&quot;]&#10;--&gt; LBM[LBM step&lt;br/&gt;BGK collision + Guo forcing&lt;br/&gt;Streaming&lt;br/&gt;Boundary reconstruction&lt;br/&gt;Macroscopic update]&#10;    LBM --&gt; SYNC[Check CUDA errors&lt;br/&gt;Synchronize and validate]&#10;     --&gt; VIS[&quot;Rendering&lt;br/&gt;with&lt;br/&gt;CUDA-OpenGL&lt;br/&gt;Interoperability&quot;] &#10;     --&gt;OUTPUT{Output interval?}&#10;    OUTPUT -- Yes --&gt; WRITE[Write VTI, VTP&lt;br/&gt;and statistics]&#10;    OUTPUT -- No --&gt; STEP&#10;    WRITE --&gt; STEP&#10;&#10;    classDef particle fill:#fff2cc,stroke:#b8860b,color:#222;&#10;    classDef fluid fill:#d9eaf7,stroke:#2b6f9f,color:#222;&#10;    classDef control fill:#eeeeee,stroke:#555,color:#222;&#10;&#10;    class INJECT,RESET_FLUID,SUBLOOP,RESET_PARTICLE,CELLS,DRAG,REACTION,CONTACT,WALL,VELOCITY,ROTATION,POSITION,ORIENTATION,EXIT particle;&#10;    class LBM fluid;&#10;    class START,INIT,STEP,ENABLED,SYNC,OUTPUT,WRITE,END control;" id="97" name="Google Shape;97;p15" title="mermaid-graph/neutral"/>
          <p:cNvPicPr preferRelativeResize="0"/>
          <p:nvPr/>
        </p:nvPicPr>
        <p:blipFill>
          <a:blip r:embed="rId3">
            <a:alphaModFix/>
          </a:blip>
          <a:stretch>
            <a:fillRect/>
          </a:stretch>
        </p:blipFill>
        <p:spPr>
          <a:xfrm>
            <a:off x="37775" y="2545875"/>
            <a:ext cx="9068424" cy="1459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Core Simulation Concepts</a:t>
            </a:r>
            <a:endParaRPr/>
          </a:p>
        </p:txBody>
      </p:sp>
      <p:sp>
        <p:nvSpPr>
          <p:cNvPr id="103" name="Google Shape;103;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Fluid -&gt; LBM</a:t>
            </a:r>
            <a:endParaRPr/>
          </a:p>
          <a:p>
            <a:pPr indent="0" lvl="0" marL="0" rtl="0" algn="l">
              <a:spcBef>
                <a:spcPts val="1200"/>
              </a:spcBef>
              <a:spcAft>
                <a:spcPts val="0"/>
              </a:spcAft>
              <a:buNone/>
            </a:pPr>
            <a:r>
              <a:rPr lang="en"/>
              <a:t>Particles -&gt; Spring</a:t>
            </a:r>
            <a:endParaRPr/>
          </a:p>
          <a:p>
            <a:pPr indent="0" lvl="0" marL="0" rtl="0" algn="l">
              <a:spcBef>
                <a:spcPts val="1200"/>
              </a:spcBef>
              <a:spcAft>
                <a:spcPts val="0"/>
              </a:spcAft>
              <a:buNone/>
            </a:pPr>
            <a:r>
              <a:rPr lang="en"/>
              <a:t>Interaction -&gt; Particle &lt;&gt; Fluid</a:t>
            </a:r>
            <a:endParaRPr/>
          </a:p>
          <a:p>
            <a:pPr indent="0" lvl="0" marL="0" rtl="0" algn="l">
              <a:spcBef>
                <a:spcPts val="1200"/>
              </a:spcBef>
              <a:spcAft>
                <a:spcPts val="1200"/>
              </a:spcAft>
              <a:buNone/>
            </a:pPr>
            <a:r>
              <a:rPr lang="en"/>
              <a:t>Mesh -&gt; Generating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17"/>
          <p:cNvGrpSpPr/>
          <p:nvPr/>
        </p:nvGrpSpPr>
        <p:grpSpPr>
          <a:xfrm>
            <a:off x="830392" y="1191256"/>
            <a:ext cx="745763" cy="45826"/>
            <a:chOff x="4580561" y="2589004"/>
            <a:chExt cx="1064464" cy="25200"/>
          </a:xfrm>
        </p:grpSpPr>
        <p:sp>
          <p:nvSpPr>
            <p:cNvPr id="110" name="Google Shape;110;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 name="Google Shape;112;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a:t>
            </a:r>
            <a:endParaRPr/>
          </a:p>
        </p:txBody>
      </p:sp>
      <p:grpSp>
        <p:nvGrpSpPr>
          <p:cNvPr id="113" name="Google Shape;113;p17"/>
          <p:cNvGrpSpPr/>
          <p:nvPr/>
        </p:nvGrpSpPr>
        <p:grpSpPr>
          <a:xfrm>
            <a:off x="723900" y="1809750"/>
            <a:ext cx="7686600" cy="857400"/>
            <a:chOff x="723900" y="1809750"/>
            <a:chExt cx="7686600" cy="857400"/>
          </a:xfrm>
        </p:grpSpPr>
        <p:sp>
          <p:nvSpPr>
            <p:cNvPr id="114" name="Google Shape;114;p17"/>
            <p:cNvSpPr/>
            <p:nvPr/>
          </p:nvSpPr>
          <p:spPr>
            <a:xfrm>
              <a:off x="723900" y="1809750"/>
              <a:ext cx="7686600" cy="857400"/>
            </a:xfrm>
            <a:prstGeom prst="roundRect">
              <a:avLst>
                <a:gd fmla="val 888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7"/>
            <p:cNvSpPr/>
            <p:nvPr/>
          </p:nvSpPr>
          <p:spPr>
            <a:xfrm>
              <a:off x="723900" y="1809750"/>
              <a:ext cx="57300" cy="8574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6" name="Google Shape;116;p17"/>
          <p:cNvSpPr txBox="1"/>
          <p:nvPr/>
        </p:nvSpPr>
        <p:spPr>
          <a:xfrm>
            <a:off x="933450" y="1809750"/>
            <a:ext cx="36195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A9988"/>
                </a:solidFill>
                <a:latin typeface="Lato"/>
                <a:ea typeface="Lato"/>
                <a:cs typeface="Lato"/>
                <a:sym typeface="Lato"/>
              </a:rPr>
              <a:t>Collision Operator</a:t>
            </a:r>
            <a:endParaRPr b="1" sz="1300">
              <a:solidFill>
                <a:srgbClr val="1A9988"/>
              </a:solidFill>
              <a:latin typeface="Lato"/>
              <a:ea typeface="Lato"/>
              <a:cs typeface="Lato"/>
              <a:sym typeface="Lato"/>
            </a:endParaRPr>
          </a:p>
          <a:p>
            <a:pPr indent="0" lvl="0" marL="0" rtl="0" algn="l">
              <a:spcBef>
                <a:spcPts val="300"/>
              </a:spcBef>
              <a:spcAft>
                <a:spcPts val="0"/>
              </a:spcAft>
              <a:buNone/>
            </a:pPr>
            <a:r>
              <a:rPr lang="en" sz="1100">
                <a:solidFill>
                  <a:srgbClr val="595959"/>
                </a:solidFill>
                <a:latin typeface="Lato"/>
                <a:ea typeface="Lato"/>
                <a:cs typeface="Lato"/>
                <a:sym typeface="Lato"/>
              </a:rPr>
              <a:t>During the collision every population is relaxed toward the equilibrium distribution.</a:t>
            </a:r>
            <a:endParaRPr sz="1100">
              <a:solidFill>
                <a:srgbClr val="595959"/>
              </a:solidFill>
              <a:latin typeface="Lato"/>
              <a:ea typeface="Lato"/>
              <a:cs typeface="Lato"/>
              <a:sym typeface="Lato"/>
            </a:endParaRPr>
          </a:p>
        </p:txBody>
      </p:sp>
      <p:pic>
        <p:nvPicPr>
          <p:cNvPr id="117" name="Google Shape;117;p17"/>
          <p:cNvPicPr preferRelativeResize="0"/>
          <p:nvPr/>
        </p:nvPicPr>
        <p:blipFill rotWithShape="1">
          <a:blip r:embed="rId3">
            <a:alphaModFix/>
          </a:blip>
          <a:srcRect b="0" l="239" r="239" t="0"/>
          <a:stretch/>
        </p:blipFill>
        <p:spPr>
          <a:xfrm>
            <a:off x="4762500" y="2067000"/>
            <a:ext cx="3429000" cy="342900"/>
          </a:xfrm>
          <a:prstGeom prst="rect">
            <a:avLst/>
          </a:prstGeom>
          <a:noFill/>
          <a:ln>
            <a:noFill/>
          </a:ln>
        </p:spPr>
      </p:pic>
      <p:grpSp>
        <p:nvGrpSpPr>
          <p:cNvPr id="118" name="Google Shape;118;p17"/>
          <p:cNvGrpSpPr/>
          <p:nvPr/>
        </p:nvGrpSpPr>
        <p:grpSpPr>
          <a:xfrm>
            <a:off x="723900" y="2809875"/>
            <a:ext cx="7686600" cy="952500"/>
            <a:chOff x="723900" y="2809875"/>
            <a:chExt cx="7686600" cy="952500"/>
          </a:xfrm>
        </p:grpSpPr>
        <p:sp>
          <p:nvSpPr>
            <p:cNvPr id="119" name="Google Shape;119;p17"/>
            <p:cNvSpPr/>
            <p:nvPr/>
          </p:nvSpPr>
          <p:spPr>
            <a:xfrm>
              <a:off x="723900" y="2809875"/>
              <a:ext cx="7686600" cy="9525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7"/>
            <p:cNvSpPr/>
            <p:nvPr/>
          </p:nvSpPr>
          <p:spPr>
            <a:xfrm>
              <a:off x="723900" y="2809875"/>
              <a:ext cx="57300" cy="9525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1" name="Google Shape;121;p17"/>
          <p:cNvSpPr txBox="1"/>
          <p:nvPr/>
        </p:nvSpPr>
        <p:spPr>
          <a:xfrm>
            <a:off x="933450" y="2809875"/>
            <a:ext cx="3619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EB5600"/>
                </a:solidFill>
                <a:latin typeface="Lato"/>
                <a:ea typeface="Lato"/>
                <a:cs typeface="Lato"/>
                <a:sym typeface="Lato"/>
              </a:rPr>
              <a:t>Equilibrium Distribution</a:t>
            </a:r>
            <a:endParaRPr b="1" sz="1300">
              <a:solidFill>
                <a:srgbClr val="EB5600"/>
              </a:solidFill>
              <a:latin typeface="Lato"/>
              <a:ea typeface="Lato"/>
              <a:cs typeface="Lato"/>
              <a:sym typeface="Lato"/>
            </a:endParaRPr>
          </a:p>
          <a:p>
            <a:pPr indent="0" lvl="0" marL="0" rtl="0" algn="l">
              <a:spcBef>
                <a:spcPts val="300"/>
              </a:spcBef>
              <a:spcAft>
                <a:spcPts val="0"/>
              </a:spcAft>
              <a:buNone/>
            </a:pPr>
            <a:r>
              <a:rPr lang="en" sz="1100">
                <a:solidFill>
                  <a:srgbClr val="595959"/>
                </a:solidFill>
                <a:latin typeface="Lato"/>
                <a:ea typeface="Lato"/>
                <a:cs typeface="Lato"/>
                <a:sym typeface="Lato"/>
              </a:rPr>
              <a:t>The local equilibrium state modeled to recover Navier-Stokes macroscopic behavior.</a:t>
            </a:r>
            <a:endParaRPr sz="1100">
              <a:solidFill>
                <a:srgbClr val="595959"/>
              </a:solidFill>
              <a:latin typeface="Lato"/>
              <a:ea typeface="Lato"/>
              <a:cs typeface="Lato"/>
              <a:sym typeface="Lato"/>
            </a:endParaRPr>
          </a:p>
        </p:txBody>
      </p:sp>
      <p:pic>
        <p:nvPicPr>
          <p:cNvPr id="122" name="Google Shape;122;p17"/>
          <p:cNvPicPr preferRelativeResize="0"/>
          <p:nvPr/>
        </p:nvPicPr>
        <p:blipFill rotWithShape="1">
          <a:blip r:embed="rId4">
            <a:alphaModFix/>
          </a:blip>
          <a:srcRect b="70" l="0" r="0" t="70"/>
          <a:stretch/>
        </p:blipFill>
        <p:spPr>
          <a:xfrm>
            <a:off x="4762500" y="3076650"/>
            <a:ext cx="3429000" cy="419100"/>
          </a:xfrm>
          <a:prstGeom prst="rect">
            <a:avLst/>
          </a:prstGeom>
          <a:noFill/>
          <a:ln>
            <a:noFill/>
          </a:ln>
        </p:spPr>
      </p:pic>
      <p:grpSp>
        <p:nvGrpSpPr>
          <p:cNvPr id="123" name="Google Shape;123;p17"/>
          <p:cNvGrpSpPr/>
          <p:nvPr/>
        </p:nvGrpSpPr>
        <p:grpSpPr>
          <a:xfrm>
            <a:off x="723900" y="3905250"/>
            <a:ext cx="7686600" cy="952500"/>
            <a:chOff x="723900" y="3905250"/>
            <a:chExt cx="7686600" cy="952500"/>
          </a:xfrm>
        </p:grpSpPr>
        <p:sp>
          <p:nvSpPr>
            <p:cNvPr id="124" name="Google Shape;124;p17"/>
            <p:cNvSpPr/>
            <p:nvPr/>
          </p:nvSpPr>
          <p:spPr>
            <a:xfrm>
              <a:off x="723900" y="3905250"/>
              <a:ext cx="7686600" cy="9525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7"/>
            <p:cNvSpPr/>
            <p:nvPr/>
          </p:nvSpPr>
          <p:spPr>
            <a:xfrm>
              <a:off x="723900" y="3905250"/>
              <a:ext cx="57300" cy="9525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6" name="Google Shape;126;p17"/>
          <p:cNvSpPr txBox="1"/>
          <p:nvPr/>
        </p:nvSpPr>
        <p:spPr>
          <a:xfrm>
            <a:off x="933450" y="3905250"/>
            <a:ext cx="3619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A9988"/>
                </a:solidFill>
                <a:latin typeface="Lato"/>
                <a:ea typeface="Lato"/>
                <a:cs typeface="Lato"/>
                <a:sym typeface="Lato"/>
              </a:rPr>
              <a:t>Guo Forcing Scheme</a:t>
            </a:r>
            <a:endParaRPr b="1" sz="1300">
              <a:solidFill>
                <a:srgbClr val="1A9988"/>
              </a:solidFill>
              <a:latin typeface="Lato"/>
              <a:ea typeface="Lato"/>
              <a:cs typeface="Lato"/>
              <a:sym typeface="Lato"/>
            </a:endParaRPr>
          </a:p>
          <a:p>
            <a:pPr indent="0" lvl="0" marL="0" rtl="0" algn="l">
              <a:spcBef>
                <a:spcPts val="300"/>
              </a:spcBef>
              <a:spcAft>
                <a:spcPts val="0"/>
              </a:spcAft>
              <a:buNone/>
            </a:pPr>
            <a:r>
              <a:rPr lang="en" sz="1100">
                <a:solidFill>
                  <a:srgbClr val="595959"/>
                </a:solidFill>
                <a:latin typeface="Lato"/>
                <a:ea typeface="Lato"/>
                <a:cs typeface="Lato"/>
                <a:sym typeface="Lato"/>
              </a:rPr>
              <a:t>We apply the effect of the external forces to the fluid through the Guo forcing.</a:t>
            </a:r>
            <a:endParaRPr sz="1100">
              <a:solidFill>
                <a:srgbClr val="595959"/>
              </a:solidFill>
              <a:latin typeface="Lato"/>
              <a:ea typeface="Lato"/>
              <a:cs typeface="Lato"/>
              <a:sym typeface="Lato"/>
            </a:endParaRPr>
          </a:p>
        </p:txBody>
      </p:sp>
      <p:pic>
        <p:nvPicPr>
          <p:cNvPr id="127" name="Google Shape;127;p17"/>
          <p:cNvPicPr preferRelativeResize="0"/>
          <p:nvPr/>
        </p:nvPicPr>
        <p:blipFill rotWithShape="1">
          <a:blip r:embed="rId5">
            <a:alphaModFix/>
          </a:blip>
          <a:srcRect b="0" l="298" r="298" t="0"/>
          <a:stretch/>
        </p:blipFill>
        <p:spPr>
          <a:xfrm>
            <a:off x="4762500" y="4219500"/>
            <a:ext cx="3429000" cy="324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18"/>
          <p:cNvGrpSpPr/>
          <p:nvPr/>
        </p:nvGrpSpPr>
        <p:grpSpPr>
          <a:xfrm>
            <a:off x="830392" y="1191256"/>
            <a:ext cx="745763" cy="45826"/>
            <a:chOff x="4580561" y="2589004"/>
            <a:chExt cx="1064464" cy="25200"/>
          </a:xfrm>
        </p:grpSpPr>
        <p:sp>
          <p:nvSpPr>
            <p:cNvPr id="134" name="Google Shape;134;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Stream</a:t>
            </a:r>
            <a:endParaRPr/>
          </a:p>
        </p:txBody>
      </p:sp>
      <p:grpSp>
        <p:nvGrpSpPr>
          <p:cNvPr id="137" name="Google Shape;137;p18"/>
          <p:cNvGrpSpPr/>
          <p:nvPr/>
        </p:nvGrpSpPr>
        <p:grpSpPr>
          <a:xfrm>
            <a:off x="728700" y="1905000"/>
            <a:ext cx="7686600" cy="1047900"/>
            <a:chOff x="723900" y="1779325"/>
            <a:chExt cx="7686600" cy="1047900"/>
          </a:xfrm>
        </p:grpSpPr>
        <p:sp>
          <p:nvSpPr>
            <p:cNvPr id="138" name="Google Shape;138;p18"/>
            <p:cNvSpPr/>
            <p:nvPr/>
          </p:nvSpPr>
          <p:spPr>
            <a:xfrm>
              <a:off x="723900" y="1779325"/>
              <a:ext cx="7686600" cy="1047900"/>
            </a:xfrm>
            <a:prstGeom prst="roundRect">
              <a:avLst>
                <a:gd fmla="val 727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8"/>
            <p:cNvSpPr/>
            <p:nvPr/>
          </p:nvSpPr>
          <p:spPr>
            <a:xfrm>
              <a:off x="723900" y="1779325"/>
              <a:ext cx="57300" cy="10479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0" name="Google Shape;140;p18"/>
          <p:cNvSpPr txBox="1"/>
          <p:nvPr/>
        </p:nvSpPr>
        <p:spPr>
          <a:xfrm>
            <a:off x="938213" y="1905000"/>
            <a:ext cx="3905400" cy="1047900"/>
          </a:xfrm>
          <a:prstGeom prst="rect">
            <a:avLst/>
          </a:prstGeom>
          <a:solidFill>
            <a:srgbClr val="000000">
              <a:alpha val="0"/>
            </a:srgbClr>
          </a:solidFill>
          <a:ln>
            <a:noFill/>
          </a:ln>
        </p:spPr>
        <p:txBody>
          <a:bodyPr anchorCtr="0" anchor="ctr" bIns="0" lIns="0" spcFirstLastPara="1" rIns="95250" wrap="square" tIns="0">
            <a:noAutofit/>
          </a:bodyPr>
          <a:lstStyle/>
          <a:p>
            <a:pPr indent="0" lvl="0" marL="0" rtl="0" algn="l">
              <a:spcBef>
                <a:spcPts val="0"/>
              </a:spcBef>
              <a:spcAft>
                <a:spcPts val="0"/>
              </a:spcAft>
              <a:buNone/>
            </a:pPr>
            <a:r>
              <a:rPr b="1" lang="en" sz="1400">
                <a:solidFill>
                  <a:srgbClr val="1A9988"/>
                </a:solidFill>
                <a:latin typeface="Raleway"/>
                <a:ea typeface="Raleway"/>
                <a:cs typeface="Raleway"/>
                <a:sym typeface="Raleway"/>
              </a:rPr>
              <a:t>Streaming Operator</a:t>
            </a:r>
            <a:endParaRPr b="1" sz="1400">
              <a:solidFill>
                <a:srgbClr val="1A9988"/>
              </a:solidFill>
              <a:latin typeface="Raleway"/>
              <a:ea typeface="Raleway"/>
              <a:cs typeface="Raleway"/>
              <a:sym typeface="Raleway"/>
            </a:endParaRPr>
          </a:p>
          <a:p>
            <a:pPr indent="0" lvl="0" marL="0" rtl="0" algn="l">
              <a:spcBef>
                <a:spcPts val="450"/>
              </a:spcBef>
              <a:spcAft>
                <a:spcPts val="0"/>
              </a:spcAft>
              <a:buNone/>
            </a:pPr>
            <a:r>
              <a:rPr b="0" lang="en" sz="1100">
                <a:solidFill>
                  <a:srgbClr val="4A5568"/>
                </a:solidFill>
                <a:latin typeface="Lato"/>
                <a:ea typeface="Lato"/>
                <a:cs typeface="Lato"/>
                <a:sym typeface="Lato"/>
              </a:rPr>
              <a:t>After the collision the populations propagate to the neighbour cells. We use a pull approach, every cell reads populations coming from the source cell.</a:t>
            </a:r>
            <a:endParaRPr b="0" sz="1100">
              <a:solidFill>
                <a:srgbClr val="4A5568"/>
              </a:solidFill>
              <a:latin typeface="Lato"/>
              <a:ea typeface="Lato"/>
              <a:cs typeface="Lato"/>
              <a:sym typeface="Lato"/>
            </a:endParaRPr>
          </a:p>
        </p:txBody>
      </p:sp>
      <p:grpSp>
        <p:nvGrpSpPr>
          <p:cNvPr id="141" name="Google Shape;141;p18"/>
          <p:cNvGrpSpPr/>
          <p:nvPr/>
        </p:nvGrpSpPr>
        <p:grpSpPr>
          <a:xfrm>
            <a:off x="728700" y="3095625"/>
            <a:ext cx="7686600" cy="1047900"/>
            <a:chOff x="723900" y="2969950"/>
            <a:chExt cx="7686600" cy="1047900"/>
          </a:xfrm>
        </p:grpSpPr>
        <p:sp>
          <p:nvSpPr>
            <p:cNvPr id="142" name="Google Shape;142;p18"/>
            <p:cNvSpPr/>
            <p:nvPr/>
          </p:nvSpPr>
          <p:spPr>
            <a:xfrm>
              <a:off x="723900" y="2969950"/>
              <a:ext cx="7686600" cy="1047900"/>
            </a:xfrm>
            <a:prstGeom prst="roundRect">
              <a:avLst>
                <a:gd fmla="val 727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8"/>
            <p:cNvSpPr/>
            <p:nvPr/>
          </p:nvSpPr>
          <p:spPr>
            <a:xfrm>
              <a:off x="723900" y="2969950"/>
              <a:ext cx="57300" cy="10479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4" name="Google Shape;144;p18"/>
          <p:cNvSpPr txBox="1"/>
          <p:nvPr/>
        </p:nvSpPr>
        <p:spPr>
          <a:xfrm>
            <a:off x="938213" y="3095625"/>
            <a:ext cx="3905400" cy="1047900"/>
          </a:xfrm>
          <a:prstGeom prst="rect">
            <a:avLst/>
          </a:prstGeom>
          <a:solidFill>
            <a:srgbClr val="000000">
              <a:alpha val="0"/>
            </a:srgbClr>
          </a:solidFill>
          <a:ln>
            <a:noFill/>
          </a:ln>
        </p:spPr>
        <p:txBody>
          <a:bodyPr anchorCtr="0" anchor="ctr" bIns="0" lIns="0" spcFirstLastPara="1" rIns="95250" wrap="square" tIns="0">
            <a:noAutofit/>
          </a:bodyPr>
          <a:lstStyle/>
          <a:p>
            <a:pPr indent="0" lvl="0" marL="0" rtl="0" algn="l">
              <a:spcBef>
                <a:spcPts val="0"/>
              </a:spcBef>
              <a:spcAft>
                <a:spcPts val="0"/>
              </a:spcAft>
              <a:buNone/>
            </a:pPr>
            <a:r>
              <a:rPr b="1" lang="en" sz="1400">
                <a:solidFill>
                  <a:srgbClr val="EB5600"/>
                </a:solidFill>
                <a:latin typeface="Raleway"/>
                <a:ea typeface="Raleway"/>
                <a:cs typeface="Raleway"/>
                <a:sym typeface="Raleway"/>
              </a:rPr>
              <a:t>Bounce-back</a:t>
            </a:r>
            <a:endParaRPr b="1" sz="1400">
              <a:solidFill>
                <a:srgbClr val="EB5600"/>
              </a:solidFill>
              <a:latin typeface="Raleway"/>
              <a:ea typeface="Raleway"/>
              <a:cs typeface="Raleway"/>
              <a:sym typeface="Raleway"/>
            </a:endParaRPr>
          </a:p>
          <a:p>
            <a:pPr indent="0" lvl="0" marL="0" rtl="0" algn="l">
              <a:spcBef>
                <a:spcPts val="450"/>
              </a:spcBef>
              <a:spcAft>
                <a:spcPts val="0"/>
              </a:spcAft>
              <a:buNone/>
            </a:pPr>
            <a:r>
              <a:rPr b="0" lang="en" sz="1100">
                <a:solidFill>
                  <a:srgbClr val="4A5568"/>
                </a:solidFill>
                <a:latin typeface="Lato"/>
                <a:ea typeface="Lato"/>
                <a:cs typeface="Lato"/>
                <a:sym typeface="Lato"/>
              </a:rPr>
              <a:t>If the neighbour cell is Solid we apply the bounce-back. We take the populations that after the collision are going to the wall cell and we copy them in the opposite direction.</a:t>
            </a:r>
            <a:endParaRPr b="0" sz="1100">
              <a:solidFill>
                <a:srgbClr val="4A5568"/>
              </a:solidFill>
              <a:latin typeface="Lato"/>
              <a:ea typeface="Lato"/>
              <a:cs typeface="Lato"/>
              <a:sym typeface="Lato"/>
            </a:endParaRPr>
          </a:p>
        </p:txBody>
      </p:sp>
      <p:pic>
        <p:nvPicPr>
          <p:cNvPr id="145" name="Google Shape;145;p18"/>
          <p:cNvPicPr preferRelativeResize="0"/>
          <p:nvPr/>
        </p:nvPicPr>
        <p:blipFill rotWithShape="1">
          <a:blip r:embed="rId3">
            <a:alphaModFix/>
          </a:blip>
          <a:srcRect b="0" l="0" r="0" t="0"/>
          <a:stretch/>
        </p:blipFill>
        <p:spPr>
          <a:xfrm>
            <a:off x="4953000" y="2266950"/>
            <a:ext cx="3312600" cy="324000"/>
          </a:xfrm>
          <a:prstGeom prst="rect">
            <a:avLst/>
          </a:prstGeom>
          <a:noFill/>
          <a:ln>
            <a:noFill/>
          </a:ln>
        </p:spPr>
      </p:pic>
      <p:pic>
        <p:nvPicPr>
          <p:cNvPr id="146" name="Google Shape;146;p18"/>
          <p:cNvPicPr preferRelativeResize="0"/>
          <p:nvPr/>
        </p:nvPicPr>
        <p:blipFill rotWithShape="1">
          <a:blip r:embed="rId4">
            <a:alphaModFix/>
          </a:blip>
          <a:srcRect b="0" l="0" r="0" t="0"/>
          <a:stretch/>
        </p:blipFill>
        <p:spPr>
          <a:xfrm>
            <a:off x="4953000" y="3457575"/>
            <a:ext cx="2682300" cy="324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 name="Google Shape;152;p19"/>
          <p:cNvGrpSpPr/>
          <p:nvPr/>
        </p:nvGrpSpPr>
        <p:grpSpPr>
          <a:xfrm>
            <a:off x="830392" y="1191256"/>
            <a:ext cx="745763" cy="45826"/>
            <a:chOff x="4580561" y="2589004"/>
            <a:chExt cx="1064464" cy="25200"/>
          </a:xfrm>
        </p:grpSpPr>
        <p:sp>
          <p:nvSpPr>
            <p:cNvPr id="153" name="Google Shape;153;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 name="Google Shape;155;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Inlet</a:t>
            </a:r>
            <a:endParaRPr/>
          </a:p>
        </p:txBody>
      </p:sp>
      <p:grpSp>
        <p:nvGrpSpPr>
          <p:cNvPr id="156" name="Google Shape;156;p19"/>
          <p:cNvGrpSpPr/>
          <p:nvPr/>
        </p:nvGrpSpPr>
        <p:grpSpPr>
          <a:xfrm>
            <a:off x="666750" y="1905000"/>
            <a:ext cx="7810500" cy="1095300"/>
            <a:chOff x="666750" y="1905000"/>
            <a:chExt cx="7810500" cy="1095300"/>
          </a:xfrm>
        </p:grpSpPr>
        <p:sp>
          <p:nvSpPr>
            <p:cNvPr id="157" name="Google Shape;157;p19"/>
            <p:cNvSpPr/>
            <p:nvPr/>
          </p:nvSpPr>
          <p:spPr>
            <a:xfrm>
              <a:off x="666750" y="1905000"/>
              <a:ext cx="7810500" cy="1095300"/>
            </a:xfrm>
            <a:prstGeom prst="roundRect">
              <a:avLst>
                <a:gd fmla="val 695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9"/>
            <p:cNvSpPr/>
            <p:nvPr/>
          </p:nvSpPr>
          <p:spPr>
            <a:xfrm>
              <a:off x="666750" y="1905000"/>
              <a:ext cx="57300" cy="10953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9" name="Google Shape;159;p19"/>
          <p:cNvSpPr txBox="1"/>
          <p:nvPr/>
        </p:nvSpPr>
        <p:spPr>
          <a:xfrm>
            <a:off x="914400" y="1905000"/>
            <a:ext cx="4095900" cy="1095300"/>
          </a:xfrm>
          <a:prstGeom prst="rect">
            <a:avLst/>
          </a:prstGeom>
          <a:solidFill>
            <a:srgbClr val="000000">
              <a:alpha val="0"/>
            </a:srgbClr>
          </a:solidFill>
          <a:ln>
            <a:noFill/>
          </a:ln>
        </p:spPr>
        <p:txBody>
          <a:bodyPr anchorCtr="0" anchor="ctr" bIns="0" lIns="0" spcFirstLastPara="1" rIns="142875" wrap="square" tIns="0">
            <a:noAutofit/>
          </a:bodyPr>
          <a:lstStyle/>
          <a:p>
            <a:pPr indent="0" lvl="0" marL="0" rtl="0" algn="l">
              <a:spcBef>
                <a:spcPts val="0"/>
              </a:spcBef>
              <a:spcAft>
                <a:spcPts val="0"/>
              </a:spcAft>
              <a:buNone/>
            </a:pPr>
            <a:r>
              <a:rPr b="1" lang="en" sz="1500">
                <a:solidFill>
                  <a:srgbClr val="1A9988"/>
                </a:solidFill>
                <a:latin typeface="Raleway"/>
                <a:ea typeface="Raleway"/>
                <a:cs typeface="Raleway"/>
                <a:sym typeface="Raleway"/>
              </a:rPr>
              <a:t>Density Operator</a:t>
            </a:r>
            <a:endParaRPr b="1" sz="1500">
              <a:solidFill>
                <a:srgbClr val="1A9988"/>
              </a:solidFill>
              <a:latin typeface="Raleway"/>
              <a:ea typeface="Raleway"/>
              <a:cs typeface="Raleway"/>
              <a:sym typeface="Raleway"/>
            </a:endParaRPr>
          </a:p>
          <a:p>
            <a:pPr indent="0" lvl="0" marL="0" rtl="0" algn="l">
              <a:spcBef>
                <a:spcPts val="450"/>
              </a:spcBef>
              <a:spcAft>
                <a:spcPts val="0"/>
              </a:spcAft>
              <a:buNone/>
            </a:pPr>
            <a:r>
              <a:rPr b="0" lang="en" sz="1100">
                <a:solidFill>
                  <a:srgbClr val="4A5568"/>
                </a:solidFill>
                <a:latin typeface="Lato"/>
                <a:ea typeface="Lato"/>
                <a:cs typeface="Lato"/>
                <a:sym typeface="Lato"/>
              </a:rPr>
              <a:t>The density is not imposed and it is calculated from the known populations where S0 are the populations with null normal component and S_ are the populations that move outside the domain.</a:t>
            </a:r>
            <a:endParaRPr b="0" sz="1100">
              <a:solidFill>
                <a:srgbClr val="4A5568"/>
              </a:solidFill>
              <a:latin typeface="Lato"/>
              <a:ea typeface="Lato"/>
              <a:cs typeface="Lato"/>
              <a:sym typeface="Lato"/>
            </a:endParaRPr>
          </a:p>
        </p:txBody>
      </p:sp>
      <p:grpSp>
        <p:nvGrpSpPr>
          <p:cNvPr id="160" name="Google Shape;160;p19"/>
          <p:cNvGrpSpPr/>
          <p:nvPr/>
        </p:nvGrpSpPr>
        <p:grpSpPr>
          <a:xfrm>
            <a:off x="666750" y="3190875"/>
            <a:ext cx="7810500" cy="1095300"/>
            <a:chOff x="666750" y="3190875"/>
            <a:chExt cx="7810500" cy="1095300"/>
          </a:xfrm>
        </p:grpSpPr>
        <p:sp>
          <p:nvSpPr>
            <p:cNvPr id="161" name="Google Shape;161;p19"/>
            <p:cNvSpPr/>
            <p:nvPr/>
          </p:nvSpPr>
          <p:spPr>
            <a:xfrm>
              <a:off x="666750" y="3190875"/>
              <a:ext cx="7810500" cy="1095300"/>
            </a:xfrm>
            <a:prstGeom prst="roundRect">
              <a:avLst>
                <a:gd fmla="val 695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9"/>
            <p:cNvSpPr/>
            <p:nvPr/>
          </p:nvSpPr>
          <p:spPr>
            <a:xfrm>
              <a:off x="666750" y="3190875"/>
              <a:ext cx="57300" cy="10953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3" name="Google Shape;163;p19"/>
          <p:cNvSpPr txBox="1"/>
          <p:nvPr/>
        </p:nvSpPr>
        <p:spPr>
          <a:xfrm>
            <a:off x="914400" y="3190875"/>
            <a:ext cx="4095900" cy="1095300"/>
          </a:xfrm>
          <a:prstGeom prst="rect">
            <a:avLst/>
          </a:prstGeom>
          <a:solidFill>
            <a:srgbClr val="000000">
              <a:alpha val="0"/>
            </a:srgbClr>
          </a:solidFill>
          <a:ln>
            <a:noFill/>
          </a:ln>
        </p:spPr>
        <p:txBody>
          <a:bodyPr anchorCtr="0" anchor="ctr" bIns="0" lIns="0" spcFirstLastPara="1" rIns="142875" wrap="square" tIns="0">
            <a:noAutofit/>
          </a:bodyPr>
          <a:lstStyle/>
          <a:p>
            <a:pPr indent="0" lvl="0" marL="0" rtl="0" algn="l">
              <a:spcBef>
                <a:spcPts val="0"/>
              </a:spcBef>
              <a:spcAft>
                <a:spcPts val="0"/>
              </a:spcAft>
              <a:buNone/>
            </a:pPr>
            <a:r>
              <a:rPr b="1" lang="en" sz="1500">
                <a:solidFill>
                  <a:srgbClr val="EB5600"/>
                </a:solidFill>
                <a:latin typeface="Raleway"/>
                <a:ea typeface="Raleway"/>
                <a:cs typeface="Raleway"/>
                <a:sym typeface="Raleway"/>
              </a:rPr>
              <a:t>Missing pop. computation</a:t>
            </a:r>
            <a:endParaRPr b="1" sz="1500">
              <a:solidFill>
                <a:srgbClr val="EB5600"/>
              </a:solidFill>
              <a:latin typeface="Raleway"/>
              <a:ea typeface="Raleway"/>
              <a:cs typeface="Raleway"/>
              <a:sym typeface="Raleway"/>
            </a:endParaRPr>
          </a:p>
          <a:p>
            <a:pPr indent="0" lvl="0" marL="0" rtl="0" algn="l">
              <a:spcBef>
                <a:spcPts val="450"/>
              </a:spcBef>
              <a:spcAft>
                <a:spcPts val="0"/>
              </a:spcAft>
              <a:buNone/>
            </a:pPr>
            <a:r>
              <a:rPr lang="en" sz="1100">
                <a:solidFill>
                  <a:srgbClr val="4A5568"/>
                </a:solidFill>
                <a:latin typeface="Lato"/>
                <a:ea typeface="Lato"/>
                <a:cs typeface="Lato"/>
                <a:sym typeface="Lato"/>
              </a:rPr>
              <a:t>The missing populations are reconstructed assuming the non equilibrium part is equal to the one in the opposite direction.</a:t>
            </a:r>
            <a:endParaRPr b="0" sz="1100">
              <a:solidFill>
                <a:srgbClr val="4A5568"/>
              </a:solidFill>
              <a:latin typeface="Lato"/>
              <a:ea typeface="Lato"/>
              <a:cs typeface="Lato"/>
              <a:sym typeface="Lato"/>
            </a:endParaRPr>
          </a:p>
        </p:txBody>
      </p:sp>
      <p:pic>
        <p:nvPicPr>
          <p:cNvPr id="164" name="Google Shape;164;p19"/>
          <p:cNvPicPr preferRelativeResize="0"/>
          <p:nvPr/>
        </p:nvPicPr>
        <p:blipFill rotWithShape="1">
          <a:blip r:embed="rId3">
            <a:alphaModFix/>
          </a:blip>
          <a:srcRect b="0" l="0" r="0" t="0"/>
          <a:stretch/>
        </p:blipFill>
        <p:spPr>
          <a:xfrm>
            <a:off x="5334000" y="2057400"/>
            <a:ext cx="2317200" cy="794100"/>
          </a:xfrm>
          <a:prstGeom prst="rect">
            <a:avLst/>
          </a:prstGeom>
          <a:noFill/>
          <a:ln>
            <a:noFill/>
          </a:ln>
        </p:spPr>
      </p:pic>
      <p:pic>
        <p:nvPicPr>
          <p:cNvPr id="165" name="Google Shape;165;p19"/>
          <p:cNvPicPr preferRelativeResize="0"/>
          <p:nvPr/>
        </p:nvPicPr>
        <p:blipFill rotWithShape="1">
          <a:blip r:embed="rId4">
            <a:alphaModFix/>
          </a:blip>
          <a:srcRect b="0" l="0" r="0" t="0"/>
          <a:stretch/>
        </p:blipFill>
        <p:spPr>
          <a:xfrm>
            <a:off x="4953000" y="3533775"/>
            <a:ext cx="3137100" cy="414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 name="Google Shape;171;p20"/>
          <p:cNvGrpSpPr/>
          <p:nvPr/>
        </p:nvGrpSpPr>
        <p:grpSpPr>
          <a:xfrm>
            <a:off x="830392" y="1191256"/>
            <a:ext cx="745763" cy="45826"/>
            <a:chOff x="4580561" y="2589004"/>
            <a:chExt cx="1064464" cy="25200"/>
          </a:xfrm>
        </p:grpSpPr>
        <p:sp>
          <p:nvSpPr>
            <p:cNvPr id="172" name="Google Shape;172;p2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 name="Google Shape;174;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Outlet</a:t>
            </a:r>
            <a:endParaRPr/>
          </a:p>
        </p:txBody>
      </p:sp>
      <p:grpSp>
        <p:nvGrpSpPr>
          <p:cNvPr id="175" name="Google Shape;175;p20"/>
          <p:cNvGrpSpPr/>
          <p:nvPr/>
        </p:nvGrpSpPr>
        <p:grpSpPr>
          <a:xfrm>
            <a:off x="723900" y="1809750"/>
            <a:ext cx="7686600" cy="857400"/>
            <a:chOff x="723900" y="1809750"/>
            <a:chExt cx="7686600" cy="857400"/>
          </a:xfrm>
        </p:grpSpPr>
        <p:sp>
          <p:nvSpPr>
            <p:cNvPr id="176" name="Google Shape;176;p20"/>
            <p:cNvSpPr/>
            <p:nvPr/>
          </p:nvSpPr>
          <p:spPr>
            <a:xfrm>
              <a:off x="723900" y="1809750"/>
              <a:ext cx="7686600" cy="857400"/>
            </a:xfrm>
            <a:prstGeom prst="roundRect">
              <a:avLst>
                <a:gd fmla="val 888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0"/>
            <p:cNvSpPr/>
            <p:nvPr/>
          </p:nvSpPr>
          <p:spPr>
            <a:xfrm>
              <a:off x="723900" y="1809750"/>
              <a:ext cx="57300" cy="8574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8" name="Google Shape;178;p20"/>
          <p:cNvSpPr txBox="1"/>
          <p:nvPr/>
        </p:nvSpPr>
        <p:spPr>
          <a:xfrm>
            <a:off x="933450" y="1809750"/>
            <a:ext cx="36195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chemeClr val="dk1"/>
                </a:solidFill>
                <a:latin typeface="Lato"/>
                <a:ea typeface="Lato"/>
                <a:cs typeface="Lato"/>
                <a:sym typeface="Lato"/>
              </a:rPr>
              <a:t>Imposed Density</a:t>
            </a:r>
            <a:endParaRPr b="1" sz="1300">
              <a:solidFill>
                <a:schemeClr val="dk1"/>
              </a:solidFill>
              <a:latin typeface="Lato"/>
              <a:ea typeface="Lato"/>
              <a:cs typeface="Lato"/>
              <a:sym typeface="Lato"/>
            </a:endParaRPr>
          </a:p>
          <a:p>
            <a:pPr indent="0" lvl="0" marL="0" rtl="0" algn="l">
              <a:spcBef>
                <a:spcPts val="300"/>
              </a:spcBef>
              <a:spcAft>
                <a:spcPts val="0"/>
              </a:spcAft>
              <a:buNone/>
            </a:pPr>
            <a:r>
              <a:rPr lang="en" sz="1100">
                <a:solidFill>
                  <a:srgbClr val="595959"/>
                </a:solidFill>
                <a:latin typeface="Lato"/>
                <a:ea typeface="Lato"/>
                <a:cs typeface="Lato"/>
                <a:sym typeface="Lato"/>
              </a:rPr>
              <a:t>We impose density </a:t>
            </a:r>
            <a:r>
              <a:rPr lang="en" sz="1100">
                <a:solidFill>
                  <a:srgbClr val="595959"/>
                </a:solidFill>
                <a:latin typeface="Lato"/>
                <a:ea typeface="Lato"/>
                <a:cs typeface="Lato"/>
                <a:sym typeface="Lato"/>
              </a:rPr>
              <a:t>equal to one. Our fluid is not compressible so the pressure should be unitary everywhere. The imposed density back-propagates in the fluid</a:t>
            </a:r>
            <a:endParaRPr sz="1100">
              <a:solidFill>
                <a:srgbClr val="595959"/>
              </a:solidFill>
              <a:latin typeface="Lato"/>
              <a:ea typeface="Lato"/>
              <a:cs typeface="Lato"/>
              <a:sym typeface="Lato"/>
            </a:endParaRPr>
          </a:p>
        </p:txBody>
      </p:sp>
      <p:grpSp>
        <p:nvGrpSpPr>
          <p:cNvPr id="179" name="Google Shape;179;p20"/>
          <p:cNvGrpSpPr/>
          <p:nvPr/>
        </p:nvGrpSpPr>
        <p:grpSpPr>
          <a:xfrm>
            <a:off x="723900" y="2809875"/>
            <a:ext cx="7686600" cy="952500"/>
            <a:chOff x="723900" y="2809875"/>
            <a:chExt cx="7686600" cy="952500"/>
          </a:xfrm>
        </p:grpSpPr>
        <p:sp>
          <p:nvSpPr>
            <p:cNvPr id="180" name="Google Shape;180;p20"/>
            <p:cNvSpPr/>
            <p:nvPr/>
          </p:nvSpPr>
          <p:spPr>
            <a:xfrm>
              <a:off x="723900" y="2809875"/>
              <a:ext cx="7686600" cy="9525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20"/>
            <p:cNvSpPr/>
            <p:nvPr/>
          </p:nvSpPr>
          <p:spPr>
            <a:xfrm>
              <a:off x="723900" y="2809875"/>
              <a:ext cx="57300" cy="9525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2" name="Google Shape;182;p20"/>
          <p:cNvSpPr txBox="1"/>
          <p:nvPr/>
        </p:nvSpPr>
        <p:spPr>
          <a:xfrm>
            <a:off x="933450" y="2809875"/>
            <a:ext cx="3619500" cy="10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EB5600"/>
                </a:solidFill>
                <a:latin typeface="Lato"/>
                <a:ea typeface="Lato"/>
                <a:cs typeface="Lato"/>
                <a:sym typeface="Lato"/>
              </a:rPr>
              <a:t>Normal velocity operator</a:t>
            </a:r>
            <a:endParaRPr b="1" sz="1300">
              <a:solidFill>
                <a:srgbClr val="EB5600"/>
              </a:solidFill>
              <a:latin typeface="Lato"/>
              <a:ea typeface="Lato"/>
              <a:cs typeface="Lato"/>
              <a:sym typeface="Lato"/>
            </a:endParaRPr>
          </a:p>
          <a:p>
            <a:pPr indent="0" lvl="0" marL="0" rtl="0" algn="l">
              <a:spcBef>
                <a:spcPts val="300"/>
              </a:spcBef>
              <a:spcAft>
                <a:spcPts val="0"/>
              </a:spcAft>
              <a:buNone/>
            </a:pPr>
            <a:r>
              <a:rPr lang="en" sz="1100">
                <a:solidFill>
                  <a:srgbClr val="4A5568"/>
                </a:solidFill>
                <a:latin typeface="Lato"/>
                <a:ea typeface="Lato"/>
                <a:cs typeface="Lato"/>
                <a:sym typeface="Lato"/>
              </a:rPr>
              <a:t>The normal velocity is not imposed and it is calculated from the known populations where S0 are the populations with null normal component and S+  are the populations that move outside the domain.</a:t>
            </a:r>
            <a:endParaRPr sz="1100">
              <a:solidFill>
                <a:srgbClr val="4A5568"/>
              </a:solidFill>
              <a:latin typeface="Lato"/>
              <a:ea typeface="Lato"/>
              <a:cs typeface="Lato"/>
              <a:sym typeface="Lato"/>
            </a:endParaRPr>
          </a:p>
          <a:p>
            <a:pPr indent="0" lvl="0" marL="0" rtl="0" algn="l">
              <a:spcBef>
                <a:spcPts val="0"/>
              </a:spcBef>
              <a:spcAft>
                <a:spcPts val="0"/>
              </a:spcAft>
              <a:buNone/>
            </a:pPr>
            <a:r>
              <a:t/>
            </a:r>
            <a:endParaRPr sz="1100">
              <a:solidFill>
                <a:srgbClr val="595959"/>
              </a:solidFill>
              <a:latin typeface="Lato"/>
              <a:ea typeface="Lato"/>
              <a:cs typeface="Lato"/>
              <a:sym typeface="Lato"/>
            </a:endParaRPr>
          </a:p>
        </p:txBody>
      </p:sp>
      <p:grpSp>
        <p:nvGrpSpPr>
          <p:cNvPr id="183" name="Google Shape;183;p20"/>
          <p:cNvGrpSpPr/>
          <p:nvPr/>
        </p:nvGrpSpPr>
        <p:grpSpPr>
          <a:xfrm>
            <a:off x="723900" y="3905250"/>
            <a:ext cx="7686600" cy="952500"/>
            <a:chOff x="723900" y="3905250"/>
            <a:chExt cx="7686600" cy="952500"/>
          </a:xfrm>
        </p:grpSpPr>
        <p:sp>
          <p:nvSpPr>
            <p:cNvPr id="184" name="Google Shape;184;p20"/>
            <p:cNvSpPr/>
            <p:nvPr/>
          </p:nvSpPr>
          <p:spPr>
            <a:xfrm>
              <a:off x="723900" y="3905250"/>
              <a:ext cx="7686600" cy="9525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20"/>
            <p:cNvSpPr/>
            <p:nvPr/>
          </p:nvSpPr>
          <p:spPr>
            <a:xfrm>
              <a:off x="723900" y="3905250"/>
              <a:ext cx="57300" cy="9525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6" name="Google Shape;186;p20"/>
          <p:cNvSpPr txBox="1"/>
          <p:nvPr/>
        </p:nvSpPr>
        <p:spPr>
          <a:xfrm>
            <a:off x="933450" y="3905250"/>
            <a:ext cx="3619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A9988"/>
                </a:solidFill>
                <a:latin typeface="Lato"/>
                <a:ea typeface="Lato"/>
                <a:cs typeface="Lato"/>
                <a:sym typeface="Lato"/>
              </a:rPr>
              <a:t>Missing pop. computation</a:t>
            </a:r>
            <a:endParaRPr b="1" sz="1300">
              <a:solidFill>
                <a:srgbClr val="1A9988"/>
              </a:solidFill>
              <a:latin typeface="Lato"/>
              <a:ea typeface="Lato"/>
              <a:cs typeface="Lato"/>
              <a:sym typeface="Lato"/>
            </a:endParaRPr>
          </a:p>
          <a:p>
            <a:pPr indent="0" lvl="0" marL="0" rtl="0" algn="l">
              <a:spcBef>
                <a:spcPts val="300"/>
              </a:spcBef>
              <a:spcAft>
                <a:spcPts val="0"/>
              </a:spcAft>
              <a:buNone/>
            </a:pPr>
            <a:r>
              <a:rPr lang="en" sz="1100">
                <a:solidFill>
                  <a:srgbClr val="595959"/>
                </a:solidFill>
                <a:latin typeface="Lato"/>
                <a:ea typeface="Lato"/>
                <a:cs typeface="Lato"/>
                <a:sym typeface="Lato"/>
              </a:rPr>
              <a:t>The missing populations are reconstructed with the equilibrium relation using the imposed density.</a:t>
            </a:r>
            <a:endParaRPr sz="1100">
              <a:solidFill>
                <a:srgbClr val="595959"/>
              </a:solidFill>
              <a:latin typeface="Lato"/>
              <a:ea typeface="Lato"/>
              <a:cs typeface="Lato"/>
              <a:sym typeface="Lato"/>
            </a:endParaRPr>
          </a:p>
        </p:txBody>
      </p:sp>
      <p:pic>
        <p:nvPicPr>
          <p:cNvPr id="187" name="Google Shape;187;p20" title="image.png"/>
          <p:cNvPicPr preferRelativeResize="0"/>
          <p:nvPr/>
        </p:nvPicPr>
        <p:blipFill>
          <a:blip r:embed="rId3">
            <a:alphaModFix/>
          </a:blip>
          <a:stretch>
            <a:fillRect/>
          </a:stretch>
        </p:blipFill>
        <p:spPr>
          <a:xfrm>
            <a:off x="4783763" y="2889150"/>
            <a:ext cx="3386478" cy="794100"/>
          </a:xfrm>
          <a:prstGeom prst="rect">
            <a:avLst/>
          </a:prstGeom>
          <a:noFill/>
          <a:ln>
            <a:noFill/>
          </a:ln>
        </p:spPr>
      </p:pic>
      <p:pic>
        <p:nvPicPr>
          <p:cNvPr id="188" name="Google Shape;188;p20" title="image.png"/>
          <p:cNvPicPr preferRelativeResize="0"/>
          <p:nvPr/>
        </p:nvPicPr>
        <p:blipFill>
          <a:blip r:embed="rId4">
            <a:alphaModFix/>
          </a:blip>
          <a:stretch>
            <a:fillRect/>
          </a:stretch>
        </p:blipFill>
        <p:spPr>
          <a:xfrm>
            <a:off x="4631450" y="4261513"/>
            <a:ext cx="3691100" cy="239972"/>
          </a:xfrm>
          <a:prstGeom prst="rect">
            <a:avLst/>
          </a:prstGeom>
          <a:noFill/>
          <a:ln>
            <a:noFill/>
          </a:ln>
        </p:spPr>
      </p:pic>
      <p:pic>
        <p:nvPicPr>
          <p:cNvPr id="189" name="Google Shape;189;p20" title="image.png"/>
          <p:cNvPicPr preferRelativeResize="0"/>
          <p:nvPr/>
        </p:nvPicPr>
        <p:blipFill>
          <a:blip r:embed="rId5">
            <a:alphaModFix/>
          </a:blip>
          <a:stretch>
            <a:fillRect/>
          </a:stretch>
        </p:blipFill>
        <p:spPr>
          <a:xfrm>
            <a:off x="5837886" y="2076449"/>
            <a:ext cx="1278238" cy="324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Tried outlet models results</a:t>
            </a:r>
            <a:endParaRPr/>
          </a:p>
        </p:txBody>
      </p:sp>
      <p:sp>
        <p:nvSpPr>
          <p:cNvPr id="195" name="Google Shape;195;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196" name="Google Shape;196;p21" title="Final mean density for all outlet boundary conditions.png"/>
          <p:cNvPicPr preferRelativeResize="0"/>
          <p:nvPr/>
        </p:nvPicPr>
        <p:blipFill>
          <a:blip r:embed="rId3">
            <a:alphaModFix/>
          </a:blip>
          <a:stretch>
            <a:fillRect/>
          </a:stretch>
        </p:blipFill>
        <p:spPr>
          <a:xfrm>
            <a:off x="488450" y="1985201"/>
            <a:ext cx="4083551" cy="2448450"/>
          </a:xfrm>
          <a:prstGeom prst="rect">
            <a:avLst/>
          </a:prstGeom>
          <a:noFill/>
          <a:ln>
            <a:noFill/>
          </a:ln>
        </p:spPr>
      </p:pic>
      <p:pic>
        <p:nvPicPr>
          <p:cNvPr id="197" name="Google Shape;197;p21" title="Zoom near $\rho=1$.png"/>
          <p:cNvPicPr preferRelativeResize="0"/>
          <p:nvPr/>
        </p:nvPicPr>
        <p:blipFill>
          <a:blip r:embed="rId4">
            <a:alphaModFix/>
          </a:blip>
          <a:stretch>
            <a:fillRect/>
          </a:stretch>
        </p:blipFill>
        <p:spPr>
          <a:xfrm>
            <a:off x="4572000" y="1985200"/>
            <a:ext cx="4083549" cy="2448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Zou-He vs Equilibrium_rho1 </a:t>
            </a:r>
            <a:endParaRPr/>
          </a:p>
          <a:p>
            <a:pPr indent="0" lvl="0" marL="0" rtl="0" algn="l">
              <a:spcBef>
                <a:spcPts val="0"/>
              </a:spcBef>
              <a:spcAft>
                <a:spcPts val="0"/>
              </a:spcAft>
              <a:buNone/>
            </a:pPr>
            <a:r>
              <a:rPr lang="en"/>
              <a:t>and Poiseuille Like Fluid Behaviour  </a:t>
            </a:r>
            <a:endParaRPr/>
          </a:p>
        </p:txBody>
      </p:sp>
      <p:pic>
        <p:nvPicPr>
          <p:cNvPr id="203" name="Google Shape;203;p22" title="03_poiseuille_rmse.png"/>
          <p:cNvPicPr preferRelativeResize="0"/>
          <p:nvPr/>
        </p:nvPicPr>
        <p:blipFill>
          <a:blip r:embed="rId3">
            <a:alphaModFix/>
          </a:blip>
          <a:stretch>
            <a:fillRect/>
          </a:stretch>
        </p:blipFill>
        <p:spPr>
          <a:xfrm>
            <a:off x="729450" y="2226553"/>
            <a:ext cx="3621703" cy="2234674"/>
          </a:xfrm>
          <a:prstGeom prst="rect">
            <a:avLst/>
          </a:prstGeom>
          <a:noFill/>
          <a:ln>
            <a:noFill/>
          </a:ln>
        </p:spPr>
      </p:pic>
      <p:pic>
        <p:nvPicPr>
          <p:cNvPr id="204" name="Google Shape;204;p22" title="profile_fit.png"/>
          <p:cNvPicPr preferRelativeResize="0"/>
          <p:nvPr/>
        </p:nvPicPr>
        <p:blipFill>
          <a:blip r:embed="rId4">
            <a:alphaModFix/>
          </a:blip>
          <a:stretch>
            <a:fillRect/>
          </a:stretch>
        </p:blipFill>
        <p:spPr>
          <a:xfrm>
            <a:off x="5328775" y="2289050"/>
            <a:ext cx="2829025" cy="2234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Particles</a:t>
            </a:r>
            <a:endParaRPr/>
          </a:p>
        </p:txBody>
      </p:sp>
      <p:pic>
        <p:nvPicPr>
          <p:cNvPr descr="flowchart LR&#10;START([Particle&lt;/br&gt;Step&lt;/br&gt;Start]) &#10;--&gt; INJECT[Inject&lt;br/&gt;particles&lt;br/&gt;using inlet&lt;br/&gt;velocity]&#10;INJECT --&gt; RESET_FLUID[Reset LBM&lt;br/&gt;body forces]&#10;    RESET_FLUID --&gt; SUBLOOP&#10;&#10;    subgraph PARTICLES[&quot;Particle substeps&quot;]&#10;        direction LR&#10;        SUBLOOP{Next substep?}&#10;        SUBLOOP -- Yes --&gt; RESET_PARTICLE[Reset particle&lt;br/&gt;forces&lt;br/&gt;and torques]&#10;        RESET_PARTICLE --&gt; CELLS[Rebuild voxel&lt;br/&gt;cell list]&#10;        CELLS --&gt; DRAG[Interpolate&lt;br/&gt;fluid&lt;br/&gt;Compute&lt;br/&gt;Stokes&lt;br/&gt;drag]&#10;        DRAG --&gt; REACTION[Spread opposite drag&lt;br/&gt;to FLUID nodes]&#10;        REACTION --&gt; CONTACT[Particle&lt;br/&gt;contacts&lt;br/&gt;Spring,&lt;br/&gt;damping,&lt;br/&gt;friction]&#10;        CONTACT --&gt; WALL[Solid-voxel&lt;br/&gt;wall forces]&#10;        WALL --&gt; VELOCITY[Update&lt;br/&gt;velocity]&#10;        VELOCITY --&gt; ROTATION[Update angular&lt;br/&gt;velocity]&#10;        ROTATION --&gt; POSITION[Update&lt;br/&gt;position&lt;br/&gt;Reject&lt;br/&gt;wall&lt;br/&gt;crossings]&#10;        POSITION --&gt; ORIENTATION[Update&lt;br/&gt;quaternion]&#10;        ORIENTATION --&gt; EXIT[Deactivate exited or&lt;br/&gt;invalid particles]&#10;        EXIT --&gt; SUBLOOP&#10;    end&#10;    SUBLOOP -- No --&gt; LBM[LBM step&lt;br/&gt;BGK collision + Guo forcing&lt;br/&gt;Streaming&lt;br/&gt;Boundary reconstruction&lt;br/&gt;Macroscopic update]&#10;    LBM --&gt; SYNC[Check CUDA errors&lt;br/&gt;Synchronize and validate]&#10;    SYNC --&gt; END_STEP[&quot;End&lt;/br&gt;Particle&lt;/br&gt;Step&quot;]" id="210" name="Google Shape;210;p23" title="mermaid-graph/neutral"/>
          <p:cNvPicPr preferRelativeResize="0"/>
          <p:nvPr/>
        </p:nvPicPr>
        <p:blipFill>
          <a:blip r:embed="rId3">
            <a:alphaModFix/>
          </a:blip>
          <a:stretch>
            <a:fillRect/>
          </a:stretch>
        </p:blipFill>
        <p:spPr>
          <a:xfrm>
            <a:off x="86355" y="2147348"/>
            <a:ext cx="8974900" cy="1439871"/>
          </a:xfrm>
          <a:prstGeom prst="rect">
            <a:avLst/>
          </a:prstGeom>
          <a:noFill/>
          <a:ln>
            <a:noFill/>
          </a:ln>
        </p:spPr>
      </p:pic>
      <p:pic>
        <p:nvPicPr>
          <p:cNvPr id="211" name="Google Shape;211;p23" title="{&quot;red&quot;:26,&quot;green&quot;:26,&quot;blue&quot;:26,&quot;origURL&quot;:&quot;https://www.codecogs.com/eqnedit.php?latex=F_i%20%3D%20F_%7Bdrag%2Ci%7D%20%2B%20%5Csum_%7Bj%7D%20F_%7Bcontact%2Cij%7D%20%2B%20F_%7Bwall%2Ci%7D#0&quot;,&quot;size&quot;:13,&quot;width&quot;:371.6929133858268,&quot;height&quot;:30.30708661417323}"/>
          <p:cNvPicPr preferRelativeResize="0"/>
          <p:nvPr/>
        </p:nvPicPr>
        <p:blipFill>
          <a:blip r:embed="rId4">
            <a:alphaModFix/>
          </a:blip>
          <a:stretch>
            <a:fillRect/>
          </a:stretch>
        </p:blipFill>
        <p:spPr>
          <a:xfrm>
            <a:off x="2571915" y="3693972"/>
            <a:ext cx="4000149" cy="603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100"/>
              <a:t>Overlapping Particles if (searched in own voxel and 26 neighbor cells, 3 * 3 * 3 area):</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rPr lang="en" sz="1100"/>
              <a:t>Linear Spring-Dashpot Force: (n is normal vector pointing from particle j to particle i) (equal and opposite applied to both particles):</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rPr lang="en" sz="1100"/>
              <a:t>The trial tangential force (viscous):</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rPr lang="en" sz="1100"/>
              <a:t>Coloumb Bound:</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p:txBody>
      </p:sp>
      <p:sp>
        <p:nvSpPr>
          <p:cNvPr id="217" name="Google Shape;217;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Particles (Particle - Particle)</a:t>
            </a:r>
            <a:endParaRPr/>
          </a:p>
        </p:txBody>
      </p:sp>
      <p:pic>
        <p:nvPicPr>
          <p:cNvPr id="218" name="Google Shape;218;p24" title="{&quot;red&quot;:89,&quot;green&quot;:89,&quot;blue&quot;:89,&quot;origURL&quot;:&quot;https://www.codecogs.com/eqnedit.php?latex=%5Cmathbf%20F_t%5E*%3D-c_c%5Cmathbf%20v_t#0&quot;,&quot;size&quot;:11,&quot;width&quot;:554.2440944881889,&quot;height&quot;:229.22834645669292}"/>
          <p:cNvPicPr preferRelativeResize="0"/>
          <p:nvPr/>
        </p:nvPicPr>
        <p:blipFill>
          <a:blip r:embed="rId3">
            <a:alphaModFix/>
          </a:blip>
          <a:stretch>
            <a:fillRect/>
          </a:stretch>
        </p:blipFill>
        <p:spPr>
          <a:xfrm>
            <a:off x="862153" y="3519100"/>
            <a:ext cx="798038" cy="162525"/>
          </a:xfrm>
          <a:prstGeom prst="rect">
            <a:avLst/>
          </a:prstGeom>
          <a:noFill/>
          <a:ln>
            <a:noFill/>
          </a:ln>
        </p:spPr>
      </p:pic>
      <p:pic>
        <p:nvPicPr>
          <p:cNvPr id="219" name="Google Shape;219;p24" title="{&quot;red&quot;:89,&quot;green&quot;:89,&quot;blue&quot;:89,&quot;origURL&quot;:&quot;https://www.codecogs.com/eqnedit.php?latex=%5Cdelta%20%3D%20r_i%2Br_j-%5ClVert%5Cmathbf%20x_i-%5Cmathbf%20x_j%5CrVert%20%3E%200#0&quot;,&quot;size&quot;:11,&quot;width&quot;:554.2440944881889,&quot;height&quot;:229.22834645669292}"/>
          <p:cNvPicPr preferRelativeResize="0"/>
          <p:nvPr/>
        </p:nvPicPr>
        <p:blipFill>
          <a:blip r:embed="rId4">
            <a:alphaModFix/>
          </a:blip>
          <a:stretch>
            <a:fillRect/>
          </a:stretch>
        </p:blipFill>
        <p:spPr>
          <a:xfrm>
            <a:off x="845950" y="2378075"/>
            <a:ext cx="1807700" cy="162525"/>
          </a:xfrm>
          <a:prstGeom prst="rect">
            <a:avLst/>
          </a:prstGeom>
          <a:noFill/>
          <a:ln>
            <a:noFill/>
          </a:ln>
        </p:spPr>
      </p:pic>
      <p:pic>
        <p:nvPicPr>
          <p:cNvPr id="220" name="Google Shape;220;p24" title="{&quot;red&quot;:89,&quot;green&quot;:89,&quot;blue&quot;:89,&quot;origURL&quot;:&quot;https://www.codecogs.com/eqnedit.php?latex=%5ClVert%5Cmathbf%20F_t%5CrVert%20%5Cleq%20%5Cmu_f%20F_n#0&quot;,&quot;size&quot;:11,&quot;width&quot;:554.2440944881889,&quot;height&quot;:229.22834645669286}"/>
          <p:cNvPicPr preferRelativeResize="0"/>
          <p:nvPr/>
        </p:nvPicPr>
        <p:blipFill>
          <a:blip r:embed="rId5">
            <a:alphaModFix/>
          </a:blip>
          <a:stretch>
            <a:fillRect/>
          </a:stretch>
        </p:blipFill>
        <p:spPr>
          <a:xfrm>
            <a:off x="845950" y="3956225"/>
            <a:ext cx="829818" cy="162401"/>
          </a:xfrm>
          <a:prstGeom prst="rect">
            <a:avLst/>
          </a:prstGeom>
          <a:noFill/>
          <a:ln>
            <a:noFill/>
          </a:ln>
        </p:spPr>
      </p:pic>
      <p:pic>
        <p:nvPicPr>
          <p:cNvPr id="221" name="Google Shape;221;p24" title="{&quot;red&quot;:89,&quot;green&quot;:89,&quot;blue&quot;:89,&quot;origURL&quot;:&quot;https://www.codecogs.com/eqnedit.php?latex=F_n%20%3D%20%5Cmax%5Cleft(0%2C%5C%3Bk_c%5Cdelta%20-%20c_c%20v_n%5Cright)#0&quot;,&quot;size&quot;:11,&quot;width&quot;:554.2440944881889,&quot;height&quot;:229.22834645669295}"/>
          <p:cNvPicPr preferRelativeResize="0"/>
          <p:nvPr/>
        </p:nvPicPr>
        <p:blipFill>
          <a:blip r:embed="rId6">
            <a:alphaModFix/>
          </a:blip>
          <a:stretch>
            <a:fillRect/>
          </a:stretch>
        </p:blipFill>
        <p:spPr>
          <a:xfrm>
            <a:off x="821179" y="3081978"/>
            <a:ext cx="1702387" cy="162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Particles</a:t>
            </a:r>
            <a:endParaRPr/>
          </a:p>
        </p:txBody>
      </p:sp>
      <p:sp>
        <p:nvSpPr>
          <p:cNvPr id="227" name="Google Shape;227;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06388" lvl="0" marL="457200" rtl="0" algn="l">
              <a:lnSpc>
                <a:spcPct val="100000"/>
              </a:lnSpc>
              <a:spcBef>
                <a:spcPts val="0"/>
              </a:spcBef>
              <a:spcAft>
                <a:spcPts val="0"/>
              </a:spcAft>
              <a:buSzPts val="1225"/>
              <a:buChar char="●"/>
            </a:pPr>
            <a:r>
              <a:rPr lang="en" sz="1225"/>
              <a:t>Three species: red blood cells, platelets, and leukocytes</a:t>
            </a:r>
            <a:endParaRPr sz="1225"/>
          </a:p>
          <a:p>
            <a:pPr indent="-306388" lvl="0" marL="457200" rtl="0" algn="l">
              <a:lnSpc>
                <a:spcPct val="100000"/>
              </a:lnSpc>
              <a:spcBef>
                <a:spcPts val="0"/>
              </a:spcBef>
              <a:spcAft>
                <a:spcPts val="0"/>
              </a:spcAft>
              <a:buSzPts val="1225"/>
              <a:buChar char="●"/>
            </a:pPr>
            <a:r>
              <a:rPr lang="en" sz="1225"/>
              <a:t>Particles are rigid bodies stored and processed on the GPU</a:t>
            </a:r>
            <a:endParaRPr sz="1225"/>
          </a:p>
          <a:p>
            <a:pPr indent="-306388" lvl="0" marL="457200" rtl="0" algn="l">
              <a:lnSpc>
                <a:spcPct val="100000"/>
              </a:lnSpc>
              <a:spcBef>
                <a:spcPts val="0"/>
              </a:spcBef>
              <a:spcAft>
                <a:spcPts val="0"/>
              </a:spcAft>
              <a:buSzPts val="1225"/>
              <a:buChar char="●"/>
            </a:pPr>
            <a:r>
              <a:rPr lang="en" sz="1225"/>
              <a:t>RBCs have ellipsoidal orientation data, but all drag and contact calculations use an effective spherical radius</a:t>
            </a:r>
            <a:endParaRPr sz="1225"/>
          </a:p>
          <a:p>
            <a:pPr indent="-306388" lvl="0" marL="457200" rtl="0" algn="l">
              <a:lnSpc>
                <a:spcPct val="100000"/>
              </a:lnSpc>
              <a:spcBef>
                <a:spcPts val="0"/>
              </a:spcBef>
              <a:spcAft>
                <a:spcPts val="0"/>
              </a:spcAft>
              <a:buSzPts val="1225"/>
              <a:buChar char="●"/>
            </a:pPr>
            <a:r>
              <a:rPr lang="en" sz="1225"/>
              <a:t>Particles are injected at inlet cells using the local fluid velocity</a:t>
            </a:r>
            <a:endParaRPr sz="1225"/>
          </a:p>
          <a:p>
            <a:pPr indent="-306388" lvl="0" marL="457200" rtl="0" algn="l">
              <a:lnSpc>
                <a:spcPct val="100000"/>
              </a:lnSpc>
              <a:spcBef>
                <a:spcPts val="0"/>
              </a:spcBef>
              <a:spcAft>
                <a:spcPts val="0"/>
              </a:spcAft>
              <a:buSzPts val="1225"/>
              <a:buChar char="●"/>
            </a:pPr>
            <a:r>
              <a:rPr lang="en" sz="1225"/>
              <a:t>Particles are deactivated after leaving the grid or reaching an outlet</a:t>
            </a:r>
            <a:endParaRPr sz="1225"/>
          </a:p>
          <a:p>
            <a:pPr indent="-306388" lvl="0" marL="457200" rtl="0" algn="l">
              <a:lnSpc>
                <a:spcPct val="100000"/>
              </a:lnSpc>
              <a:spcBef>
                <a:spcPts val="0"/>
              </a:spcBef>
              <a:spcAft>
                <a:spcPts val="0"/>
              </a:spcAft>
              <a:buSzPts val="1225"/>
              <a:buChar char="●"/>
            </a:pPr>
            <a:r>
              <a:rPr lang="en" sz="1225"/>
              <a:t>linked-cell list</a:t>
            </a:r>
            <a:endParaRPr sz="1225"/>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Particles</a:t>
            </a:r>
            <a:endParaRPr/>
          </a:p>
        </p:txBody>
      </p:sp>
      <p:sp>
        <p:nvSpPr>
          <p:cNvPr id="233" name="Google Shape;233;p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75"/>
              <a:buNone/>
            </a:pPr>
            <a:r>
              <a:rPr lang="en" sz="1225"/>
              <a:t>1. Inject the requested species at inlet cells using the current fluid velocity.</a:t>
            </a:r>
            <a:endParaRPr sz="1225"/>
          </a:p>
          <a:p>
            <a:pPr indent="0" lvl="0" marL="0" rtl="0" algn="l">
              <a:lnSpc>
                <a:spcPct val="100000"/>
              </a:lnSpc>
              <a:spcBef>
                <a:spcPts val="0"/>
              </a:spcBef>
              <a:spcAft>
                <a:spcPts val="0"/>
              </a:spcAft>
              <a:buSzPts val="275"/>
              <a:buNone/>
            </a:pPr>
            <a:r>
              <a:rPr lang="en" sz="1225"/>
              <a:t>2. Reset the LBM body-force arrays once.</a:t>
            </a:r>
            <a:endParaRPr sz="1225"/>
          </a:p>
          <a:p>
            <a:pPr indent="0" lvl="0" marL="0" rtl="0" algn="l">
              <a:lnSpc>
                <a:spcPct val="100000"/>
              </a:lnSpc>
              <a:spcBef>
                <a:spcPts val="0"/>
              </a:spcBef>
              <a:spcAft>
                <a:spcPts val="0"/>
              </a:spcAft>
              <a:buSzPts val="275"/>
              <a:buNone/>
            </a:pPr>
            <a:r>
              <a:rPr lang="en" sz="1225"/>
              <a:t>3. For every particle substep:</a:t>
            </a:r>
            <a:endParaRPr sz="1225"/>
          </a:p>
          <a:p>
            <a:pPr indent="0" lvl="0" marL="0" rtl="0" algn="l">
              <a:lnSpc>
                <a:spcPct val="100000"/>
              </a:lnSpc>
              <a:spcBef>
                <a:spcPts val="0"/>
              </a:spcBef>
              <a:spcAft>
                <a:spcPts val="0"/>
              </a:spcAft>
              <a:buSzPts val="275"/>
              <a:buNone/>
            </a:pPr>
            <a:r>
              <a:rPr lang="en" sz="1225"/>
              <a:t>   1. reset particle forces, torques, and contact counts;</a:t>
            </a:r>
            <a:endParaRPr sz="1225"/>
          </a:p>
          <a:p>
            <a:pPr indent="0" lvl="0" marL="0" rtl="0" algn="l">
              <a:lnSpc>
                <a:spcPct val="100000"/>
              </a:lnSpc>
              <a:spcBef>
                <a:spcPts val="0"/>
              </a:spcBef>
              <a:spcAft>
                <a:spcPts val="0"/>
              </a:spcAft>
              <a:buSzPts val="275"/>
              <a:buNone/>
            </a:pPr>
            <a:r>
              <a:rPr lang="en" sz="1225"/>
              <a:t>   2. reset and rebuild the linked-cell list;</a:t>
            </a:r>
            <a:endParaRPr sz="1225"/>
          </a:p>
          <a:p>
            <a:pPr indent="0" lvl="0" marL="0" rtl="0" algn="l">
              <a:lnSpc>
                <a:spcPct val="100000"/>
              </a:lnSpc>
              <a:spcBef>
                <a:spcPts val="0"/>
              </a:spcBef>
              <a:spcAft>
                <a:spcPts val="0"/>
              </a:spcAft>
              <a:buSzPts val="275"/>
              <a:buNone/>
            </a:pPr>
            <a:r>
              <a:rPr lang="en" sz="1225"/>
              <a:t>   3. interpolate the unchanged current LBM fields and compute drag/reaction;</a:t>
            </a:r>
            <a:endParaRPr sz="1225"/>
          </a:p>
          <a:p>
            <a:pPr indent="0" lvl="0" marL="0" rtl="0" algn="l">
              <a:lnSpc>
                <a:spcPct val="100000"/>
              </a:lnSpc>
              <a:spcBef>
                <a:spcPts val="0"/>
              </a:spcBef>
              <a:spcAft>
                <a:spcPts val="0"/>
              </a:spcAft>
              <a:buSzPts val="275"/>
              <a:buNone/>
            </a:pPr>
            <a:r>
              <a:rPr lang="en" sz="1225"/>
              <a:t>   4. compute particle contacts and wall forces;</a:t>
            </a:r>
            <a:endParaRPr sz="1225"/>
          </a:p>
          <a:p>
            <a:pPr indent="0" lvl="0" marL="0" rtl="0" algn="l">
              <a:lnSpc>
                <a:spcPct val="100000"/>
              </a:lnSpc>
              <a:spcBef>
                <a:spcPts val="0"/>
              </a:spcBef>
              <a:spcAft>
                <a:spcPts val="0"/>
              </a:spcAft>
              <a:buSzPts val="275"/>
              <a:buNone/>
            </a:pPr>
            <a:r>
              <a:rPr lang="en" sz="1225"/>
              <a:t>   5. cap total force and update linear velocity;</a:t>
            </a:r>
            <a:endParaRPr sz="1225"/>
          </a:p>
          <a:p>
            <a:pPr indent="0" lvl="0" marL="0" rtl="0" algn="l">
              <a:lnSpc>
                <a:spcPct val="100000"/>
              </a:lnSpc>
              <a:spcBef>
                <a:spcPts val="0"/>
              </a:spcBef>
              <a:spcAft>
                <a:spcPts val="0"/>
              </a:spcAft>
              <a:buSzPts val="275"/>
              <a:buNone/>
            </a:pPr>
            <a:r>
              <a:rPr lang="en" sz="1225"/>
              <a:t>   6. cap speed and update angular velocity;</a:t>
            </a:r>
            <a:endParaRPr sz="1225"/>
          </a:p>
          <a:p>
            <a:pPr indent="0" lvl="0" marL="0" rtl="0" algn="l">
              <a:lnSpc>
                <a:spcPct val="100000"/>
              </a:lnSpc>
              <a:spcBef>
                <a:spcPts val="0"/>
              </a:spcBef>
              <a:spcAft>
                <a:spcPts val="0"/>
              </a:spcAft>
              <a:buSzPts val="275"/>
              <a:buNone/>
            </a:pPr>
            <a:r>
              <a:rPr lang="en" sz="1225"/>
              <a:t>   7. update position, check/cap velocity, and update orientation;</a:t>
            </a:r>
            <a:endParaRPr sz="1225"/>
          </a:p>
          <a:p>
            <a:pPr indent="0" lvl="0" marL="0" rtl="0" algn="l">
              <a:lnSpc>
                <a:spcPct val="100000"/>
              </a:lnSpc>
              <a:spcBef>
                <a:spcPts val="0"/>
              </a:spcBef>
              <a:spcAft>
                <a:spcPts val="0"/>
              </a:spcAft>
              <a:buSzPts val="275"/>
              <a:buNone/>
            </a:pPr>
            <a:r>
              <a:rPr lang="en" sz="1225"/>
              <a:t>   8. deactivate particles outside the grid or in an outlet cell;</a:t>
            </a:r>
            <a:endParaRPr sz="1225"/>
          </a:p>
          <a:p>
            <a:pPr indent="0" lvl="0" marL="0" rtl="0" algn="l">
              <a:lnSpc>
                <a:spcPct val="100000"/>
              </a:lnSpc>
              <a:spcBef>
                <a:spcPts val="0"/>
              </a:spcBef>
              <a:spcAft>
                <a:spcPts val="0"/>
              </a:spcAft>
              <a:buSzPts val="275"/>
              <a:buNone/>
            </a:pPr>
            <a:r>
              <a:rPr lang="en" sz="1225"/>
              <a:t>   9. copy the current force into `F_old`.</a:t>
            </a:r>
            <a:endParaRPr sz="1225"/>
          </a:p>
          <a:p>
            <a:pPr indent="0" lvl="0" marL="0" rtl="0" algn="l">
              <a:lnSpc>
                <a:spcPct val="100000"/>
              </a:lnSpc>
              <a:spcBef>
                <a:spcPts val="0"/>
              </a:spcBef>
              <a:spcAft>
                <a:spcPts val="0"/>
              </a:spcAft>
              <a:buSzPts val="275"/>
              <a:buNone/>
            </a:pPr>
            <a:r>
              <a:rPr lang="en" sz="1225"/>
              <a:t>4. Advance the LBM once: BGK collision with forcing, streaming, boundary</a:t>
            </a:r>
            <a:endParaRPr sz="1225"/>
          </a:p>
          <a:p>
            <a:pPr indent="0" lvl="0" marL="0" rtl="0" algn="l">
              <a:lnSpc>
                <a:spcPct val="100000"/>
              </a:lnSpc>
              <a:spcBef>
                <a:spcPts val="0"/>
              </a:spcBef>
              <a:spcAft>
                <a:spcPts val="0"/>
              </a:spcAft>
              <a:buSzPts val="275"/>
              <a:buNone/>
            </a:pPr>
            <a:r>
              <a:rPr lang="en" sz="1225"/>
              <a:t>   conditions, and macroscopic reconstruction.</a:t>
            </a:r>
            <a:endParaRPr sz="1225"/>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100"/>
              <a:t>Tau is BGK relaxation time, r is the spherical radius of the particle, u_f is interpolated fluid velocity and v_p is particle velocity</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rPr lang="en" sz="1100"/>
              <a:t>The equal and opposite force is distributed back to the same fluid cells</a:t>
            </a:r>
            <a:endParaRPr sz="1100"/>
          </a:p>
          <a:p>
            <a:pPr indent="0" lvl="0" marL="0" rtl="0" algn="l">
              <a:lnSpc>
                <a:spcPct val="135714"/>
              </a:lnSpc>
              <a:spcBef>
                <a:spcPts val="0"/>
              </a:spcBef>
              <a:spcAft>
                <a:spcPts val="0"/>
              </a:spcAft>
              <a:buNone/>
            </a:pPr>
            <a:r>
              <a:rPr lang="en" sz="1100"/>
              <a:t>Because of N particle substeps, each substep only applies force with factor 1/N</a:t>
            </a:r>
            <a:endParaRPr sz="1100"/>
          </a:p>
          <a:p>
            <a:pPr indent="0" lvl="0" marL="0" rtl="0" algn="l">
              <a:lnSpc>
                <a:spcPct val="100000"/>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p:txBody>
      </p:sp>
      <p:sp>
        <p:nvSpPr>
          <p:cNvPr id="239" name="Google Shape;239;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Particles (Fluid Drag)</a:t>
            </a:r>
            <a:endParaRPr/>
          </a:p>
        </p:txBody>
      </p:sp>
      <p:pic>
        <p:nvPicPr>
          <p:cNvPr id="240" name="Google Shape;240;p27" title="{&quot;red&quot;:89,&quot;green&quot;:89,&quot;blue&quot;:89,&quot;origURL&quot;:&quot;https://www.codecogs.com/eqnedit.php?latex=%5Cmu%20%3D%20%5Cdfrac%7B%5Crho_f%20%5Ctimes%20(%5Ctau%20-%200.5)%7D%7B3%7D#0&quot;,&quot;size&quot;:11,&quot;width&quot;:306.1889763779527,&quot;height&quot;:27.874015748031496}"/>
          <p:cNvPicPr preferRelativeResize="0"/>
          <p:nvPr/>
        </p:nvPicPr>
        <p:blipFill>
          <a:blip r:embed="rId3">
            <a:alphaModFix/>
          </a:blip>
          <a:stretch>
            <a:fillRect/>
          </a:stretch>
        </p:blipFill>
        <p:spPr>
          <a:xfrm>
            <a:off x="3578928" y="2671246"/>
            <a:ext cx="1989764" cy="535200"/>
          </a:xfrm>
          <a:prstGeom prst="rect">
            <a:avLst/>
          </a:prstGeom>
          <a:noFill/>
          <a:ln>
            <a:noFill/>
          </a:ln>
        </p:spPr>
      </p:pic>
      <p:pic>
        <p:nvPicPr>
          <p:cNvPr id="241" name="Google Shape;241;p27" title="{&quot;red&quot;:89,&quot;green&quot;:89,&quot;blue&quot;:89,&quot;origURL&quot;:&quot;https://www.codecogs.com/eqnedit.php?latex=F_drag%20%3D%206%20%5Ctimes%20%5Cpi%20%5Ctimes%20%5Cmu%20%5Ctimes%20r%20%5Ctimes%20(u_f%20-%20v_p)#0&quot;,&quot;size&quot;:11,&quot;width&quot;:382.0157480314961,&quot;height&quot;:27.874015748031468}"/>
          <p:cNvPicPr preferRelativeResize="0"/>
          <p:nvPr/>
        </p:nvPicPr>
        <p:blipFill>
          <a:blip r:embed="rId4">
            <a:alphaModFix/>
          </a:blip>
          <a:stretch>
            <a:fillRect/>
          </a:stretch>
        </p:blipFill>
        <p:spPr>
          <a:xfrm>
            <a:off x="2669500" y="3477049"/>
            <a:ext cx="3808621" cy="270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100"/>
              <a:t>Penalty Force (for each neighboring solid face)</a:t>
            </a:r>
            <a:endParaRPr sz="1100"/>
          </a:p>
          <a:p>
            <a:pPr indent="0" lvl="0" marL="0" rtl="0" algn="l">
              <a:lnSpc>
                <a:spcPct val="135714"/>
              </a:lnSpc>
              <a:spcBef>
                <a:spcPts val="0"/>
              </a:spcBef>
              <a:spcAft>
                <a:spcPts val="0"/>
              </a:spcAft>
              <a:buNone/>
            </a:pPr>
            <a:r>
              <a:t/>
            </a:r>
            <a:endParaRPr sz="1100"/>
          </a:p>
        </p:txBody>
      </p:sp>
      <p:sp>
        <p:nvSpPr>
          <p:cNvPr id="247" name="Google Shape;247;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Particles (Particle - Wall)</a:t>
            </a:r>
            <a:endParaRPr/>
          </a:p>
        </p:txBody>
      </p:sp>
      <p:pic>
        <p:nvPicPr>
          <p:cNvPr id="248" name="Google Shape;248;p28" title="{&quot;red&quot;:26,&quot;green&quot;:26,&quot;blue&quot;:26,&quot;origURL&quot;:&quot;https://www.codecogs.com/eqnedit.php?latex=F_%7Bwall%7D%20%3D%20max(0%2C%20k_w%20%5Ctimes%20%5Cdelta_w%20-%20c_w%20%5Ctimes%20v_n)%20%5Ctimes%20n_%7Bwall%7D#0&quot;,&quot;size&quot;:11,&quot;width&quot;:554.2440944881889,&quot;height&quot;:229.22834645669295}"/>
          <p:cNvPicPr preferRelativeResize="0"/>
          <p:nvPr/>
        </p:nvPicPr>
        <p:blipFill>
          <a:blip r:embed="rId3">
            <a:alphaModFix/>
          </a:blip>
          <a:stretch>
            <a:fillRect/>
          </a:stretch>
        </p:blipFill>
        <p:spPr>
          <a:xfrm>
            <a:off x="2407872" y="3011002"/>
            <a:ext cx="4328248" cy="245550"/>
          </a:xfrm>
          <a:prstGeom prst="rect">
            <a:avLst/>
          </a:prstGeom>
          <a:noFill/>
          <a:ln>
            <a:noFill/>
          </a:ln>
        </p:spPr>
      </p:pic>
      <p:pic>
        <p:nvPicPr>
          <p:cNvPr id="249" name="Google Shape;249;p28" title="{&quot;red&quot;:89,&quot;green&quot;:89,&quot;blue&quot;:89,&quot;origURL&quot;:&quot;https://www.codecogs.com/eqnedit.php?latex=%5Cdelta_w%20%3D%20r%20-%20d_w#0&quot;,&quot;size&quot;:13,&quot;width&quot;:474.73228346456693,&quot;height&quot;:30.30708661417323}"/>
          <p:cNvPicPr preferRelativeResize="0"/>
          <p:nvPr/>
        </p:nvPicPr>
        <p:blipFill>
          <a:blip r:embed="rId4">
            <a:alphaModFix/>
          </a:blip>
          <a:stretch>
            <a:fillRect/>
          </a:stretch>
        </p:blipFill>
        <p:spPr>
          <a:xfrm>
            <a:off x="3870300" y="2571751"/>
            <a:ext cx="1403399" cy="245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9"/>
          <p:cNvSpPr txBox="1"/>
          <p:nvPr>
            <p:ph idx="1" type="body"/>
          </p:nvPr>
        </p:nvSpPr>
        <p:spPr>
          <a:xfrm>
            <a:off x="729450" y="1992350"/>
            <a:ext cx="7688700" cy="2261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400"/>
              <a:t>v &lt;- v + 0.5 * (F_old + F_new) / m * dt_p</a:t>
            </a:r>
            <a:endParaRPr sz="1400"/>
          </a:p>
          <a:p>
            <a:pPr indent="0" lvl="0" marL="0" rtl="0" algn="l">
              <a:lnSpc>
                <a:spcPct val="135714"/>
              </a:lnSpc>
              <a:spcBef>
                <a:spcPts val="0"/>
              </a:spcBef>
              <a:spcAft>
                <a:spcPts val="0"/>
              </a:spcAft>
              <a:buNone/>
            </a:pPr>
            <a:r>
              <a:rPr lang="en" sz="1400"/>
              <a:t>x &lt;- x + v * dt_p + 0.5 * F_new / m * dt_p^2</a:t>
            </a:r>
            <a:endParaRPr sz="1400"/>
          </a:p>
          <a:p>
            <a:pPr indent="0" lvl="0" marL="0" rtl="0" algn="l">
              <a:lnSpc>
                <a:spcPct val="135714"/>
              </a:lnSpc>
              <a:spcBef>
                <a:spcPts val="0"/>
              </a:spcBef>
              <a:spcAft>
                <a:spcPts val="0"/>
              </a:spcAft>
              <a:buNone/>
            </a:pPr>
            <a:r>
              <a:rPr lang="en" sz="1400"/>
              <a:t>F_old &lt;- F_new</a:t>
            </a:r>
            <a:endParaRPr sz="1400"/>
          </a:p>
        </p:txBody>
      </p:sp>
      <p:sp>
        <p:nvSpPr>
          <p:cNvPr id="255" name="Google Shape;255;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Particles (Integrator)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100"/>
              <a:t>Angular Velocity (explicit Euler):</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rPr lang="en" sz="1100"/>
              <a:t>Rotation</a:t>
            </a:r>
            <a:r>
              <a:rPr lang="en" sz="1100"/>
              <a:t> Update:</a:t>
            </a:r>
            <a:br>
              <a:rPr lang="en" sz="1100"/>
            </a:br>
            <a:endParaRPr sz="1100"/>
          </a:p>
        </p:txBody>
      </p:sp>
      <p:sp>
        <p:nvSpPr>
          <p:cNvPr id="261" name="Google Shape;261;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Particles (Roation)</a:t>
            </a:r>
            <a:endParaRPr/>
          </a:p>
        </p:txBody>
      </p:sp>
      <p:pic>
        <p:nvPicPr>
          <p:cNvPr id="262" name="Google Shape;262;p30" title="{&quot;red&quot;:89,&quot;green&quot;:89,&quot;blue&quot;:89,&quot;origURL&quot;:&quot;https://www.codecogs.com/eqnedit.php?latex=%5C(%5Cboldsymbol%5Comega%5Cleftarrow%20%5Cboldsymbol%5Comega%2B%20%5Cmathbf%20I%5E%7B-1%7D%5Cboldsymbol%5Ctau%5C%2C%5CDelta%20t_p%5C)%20#0&quot;,&quot;size&quot;:11,&quot;width&quot;:605.4094488188977,&quot;height&quot;:178.03937007874015}"/>
          <p:cNvPicPr preferRelativeResize="0"/>
          <p:nvPr/>
        </p:nvPicPr>
        <p:blipFill>
          <a:blip r:embed="rId3">
            <a:alphaModFix/>
          </a:blip>
          <a:stretch>
            <a:fillRect/>
          </a:stretch>
        </p:blipFill>
        <p:spPr>
          <a:xfrm>
            <a:off x="3133359" y="2401540"/>
            <a:ext cx="2880899" cy="378900"/>
          </a:xfrm>
          <a:prstGeom prst="rect">
            <a:avLst/>
          </a:prstGeom>
          <a:noFill/>
          <a:ln>
            <a:noFill/>
          </a:ln>
        </p:spPr>
      </p:pic>
      <p:pic>
        <p:nvPicPr>
          <p:cNvPr id="263" name="Google Shape;263;p30" title="{&quot;red&quot;:89,&quot;green&quot;:89,&quot;blue&quot;:89,&quot;origURL&quot;:&quot;https://www.codecogs.com/eqnedit.php?latex=%20%5Cmathbf%20q%5Cleftarrow%5Coperatorname%7Bnormalize%7D%20%5Cleft(%5Cmathbf%20q%2B%5Cdot%7B%5Cmathbf%20q%7D%5CDelta%20t_p%5Cright)%20#0&quot;,&quot;size&quot;:11,&quot;width&quot;:605.4094488188977,&quot;height&quot;:178.03937007874015}"/>
          <p:cNvPicPr preferRelativeResize="0"/>
          <p:nvPr/>
        </p:nvPicPr>
        <p:blipFill>
          <a:blip r:embed="rId4">
            <a:alphaModFix/>
          </a:blip>
          <a:stretch>
            <a:fillRect/>
          </a:stretch>
        </p:blipFill>
        <p:spPr>
          <a:xfrm>
            <a:off x="2543814" y="4325904"/>
            <a:ext cx="4059961" cy="378900"/>
          </a:xfrm>
          <a:prstGeom prst="rect">
            <a:avLst/>
          </a:prstGeom>
          <a:noFill/>
          <a:ln>
            <a:noFill/>
          </a:ln>
        </p:spPr>
      </p:pic>
      <p:pic>
        <p:nvPicPr>
          <p:cNvPr id="264" name="Google Shape;264;p30" title="{&quot;red&quot;:89,&quot;green&quot;:89,&quot;blue&quot;:89,&quot;origURL&quot;:&quot;https://www.codecogs.com/eqnedit.php?latex=%5Cdot%7B%5Cmathbf%20q%7D%20%3D%5Cfrac%7B1%7D%7B2%7D%5Cmathbf%20q%5Cotimes(0%2C%5Cboldsymbol%5Comega)#0&quot;,&quot;size&quot;:11,&quot;width&quot;:605.4094488188977,&quot;height&quot;:178.03937007874015}"/>
          <p:cNvPicPr preferRelativeResize="0"/>
          <p:nvPr/>
        </p:nvPicPr>
        <p:blipFill>
          <a:blip r:embed="rId5">
            <a:alphaModFix/>
          </a:blip>
          <a:stretch>
            <a:fillRect/>
          </a:stretch>
        </p:blipFill>
        <p:spPr>
          <a:xfrm>
            <a:off x="3277607" y="3434792"/>
            <a:ext cx="2588780" cy="77972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pic>
        <p:nvPicPr>
          <p:cNvPr id="270" name="Google Shape;270;p31" title="anim3.mp4">
            <a:hlinkClick r:id="rId3"/>
          </p:cNvPr>
          <p:cNvPicPr preferRelativeResize="0"/>
          <p:nvPr/>
        </p:nvPicPr>
        <p:blipFill>
          <a:blip r:embed="rId4">
            <a:alphaModFix/>
          </a:blip>
          <a:stretch>
            <a:fillRect/>
          </a:stretch>
        </p:blipFill>
        <p:spPr>
          <a:xfrm>
            <a:off x="3625350" y="1318650"/>
            <a:ext cx="4792800" cy="3594600"/>
          </a:xfrm>
          <a:prstGeom prst="rect">
            <a:avLst/>
          </a:prstGeom>
          <a:noFill/>
          <a:ln>
            <a:noFill/>
          </a:ln>
        </p:spPr>
      </p:pic>
      <p:pic>
        <p:nvPicPr>
          <p:cNvPr id="271" name="Google Shape;271;p31" title="Screenshot 2026-07-12 alle 18.23.49.png"/>
          <p:cNvPicPr preferRelativeResize="0"/>
          <p:nvPr/>
        </p:nvPicPr>
        <p:blipFill>
          <a:blip r:embed="rId5">
            <a:alphaModFix/>
          </a:blip>
          <a:stretch>
            <a:fillRect/>
          </a:stretch>
        </p:blipFill>
        <p:spPr>
          <a:xfrm>
            <a:off x="297550" y="1853850"/>
            <a:ext cx="3145176" cy="262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Mesh preprocessing using gmsh and trimesh</a:t>
            </a:r>
            <a:endParaRPr/>
          </a:p>
        </p:txBody>
      </p:sp>
      <p:sp>
        <p:nvSpPr>
          <p:cNvPr id="277" name="Google Shape;277;p32"/>
          <p:cNvSpPr txBox="1"/>
          <p:nvPr>
            <p:ph idx="1" type="body"/>
          </p:nvPr>
        </p:nvSpPr>
        <p:spPr>
          <a:xfrm>
            <a:off x="729450" y="2078875"/>
            <a:ext cx="7688700" cy="25656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We have also another alternative for the preprocessing through already implemented python </a:t>
            </a:r>
            <a:r>
              <a:rPr lang="en"/>
              <a:t>libraries</a:t>
            </a:r>
            <a:r>
              <a:rPr lang="en"/>
              <a:t> that take a file .geo and build a voxelized mesh ready to be used, </a:t>
            </a:r>
            <a:r>
              <a:rPr lang="en"/>
              <a:t>Gmsh is used during preprocessing to generate the surface and volumetric mesh and to identify the wall, inlet, and outlet physical regions. Trimesh is then used to vectorize the voxelization process by testing batches of cell centers against the geometry. The meshes shown in the previous slide were generated using this preprocessing pipeline.</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Profiling </a:t>
            </a:r>
            <a:endParaRPr/>
          </a:p>
        </p:txBody>
      </p:sp>
      <p:sp>
        <p:nvSpPr>
          <p:cNvPr id="283" name="Google Shape;283;p33"/>
          <p:cNvSpPr txBox="1"/>
          <p:nvPr>
            <p:ph idx="1" type="body"/>
          </p:nvPr>
        </p:nvSpPr>
        <p:spPr>
          <a:xfrm>
            <a:off x="729450" y="1939150"/>
            <a:ext cx="4250700" cy="28596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n" sz="1100">
                <a:solidFill>
                  <a:srgbClr val="595959"/>
                </a:solidFill>
              </a:rPr>
              <a:t>As the mesh is refined (smaller dx), the number of active cells increases, leading to a longer execution time per iteration. However, the throughput (MLUPS) also improves, reaching a plateau around </a:t>
            </a:r>
            <a:r>
              <a:rPr b="1" lang="en" sz="1100">
                <a:solidFill>
                  <a:srgbClr val="595959"/>
                </a:solidFill>
              </a:rPr>
              <a:t>49–50 MLUPS</a:t>
            </a:r>
            <a:r>
              <a:rPr lang="en" sz="1100">
                <a:solidFill>
                  <a:srgbClr val="595959"/>
                </a:solidFill>
              </a:rPr>
              <a:t> for the finest meshes. The estimated memory bandwidth follows the same trend, saturating at approximately </a:t>
            </a:r>
            <a:r>
              <a:rPr b="1" lang="en" sz="1100">
                <a:solidFill>
                  <a:srgbClr val="595959"/>
                </a:solidFill>
              </a:rPr>
              <a:t>45 GB/s</a:t>
            </a:r>
            <a:r>
              <a:rPr lang="en" sz="1100">
                <a:solidFill>
                  <a:srgbClr val="595959"/>
                </a:solidFill>
              </a:rPr>
              <a:t>, indicating that the implementation becomes </a:t>
            </a:r>
            <a:r>
              <a:rPr b="1" lang="en" sz="1100">
                <a:solidFill>
                  <a:srgbClr val="595959"/>
                </a:solidFill>
              </a:rPr>
              <a:t>memory-bandwidth limited</a:t>
            </a:r>
            <a:r>
              <a:rPr lang="en" sz="1100">
                <a:solidFill>
                  <a:srgbClr val="595959"/>
                </a:solidFill>
              </a:rPr>
              <a:t> rather than compute-limited for large problem sizes. The slight fluctuations at the highest resolutions are likely due to measurement noise and cache effects rather than fundamental performance changes.</a:t>
            </a:r>
            <a:endParaRPr sz="1100">
              <a:solidFill>
                <a:srgbClr val="595959"/>
              </a:solidFill>
            </a:endParaRPr>
          </a:p>
          <a:p>
            <a:pPr indent="0" lvl="0" marL="0" rtl="0" algn="l">
              <a:spcBef>
                <a:spcPts val="1200"/>
              </a:spcBef>
              <a:spcAft>
                <a:spcPts val="0"/>
              </a:spcAft>
              <a:buNone/>
            </a:pPr>
            <a:r>
              <a:rPr lang="en" sz="1100">
                <a:solidFill>
                  <a:srgbClr val="595959"/>
                </a:solidFill>
              </a:rPr>
              <a:t>The profiling has been done on a </a:t>
            </a:r>
            <a:r>
              <a:rPr lang="en" sz="1100" u="sng">
                <a:solidFill>
                  <a:schemeClr val="hlink"/>
                </a:solidFill>
                <a:hlinkClick r:id="rId3"/>
              </a:rPr>
              <a:t>cip.pool.fau.de</a:t>
            </a:r>
            <a:r>
              <a:rPr lang="en" sz="1100">
                <a:solidFill>
                  <a:srgbClr val="595959"/>
                </a:solidFill>
              </a:rPr>
              <a:t> computer mounting a Nvidia Geforce RTX 2080</a:t>
            </a:r>
            <a:endParaRPr sz="1100">
              <a:solidFill>
                <a:srgbClr val="595959"/>
              </a:solidFill>
            </a:endParaRPr>
          </a:p>
          <a:p>
            <a:pPr indent="0" lvl="0" marL="0" rtl="0" algn="l">
              <a:spcBef>
                <a:spcPts val="1200"/>
              </a:spcBef>
              <a:spcAft>
                <a:spcPts val="1200"/>
              </a:spcAft>
              <a:buNone/>
            </a:pPr>
            <a:r>
              <a:t/>
            </a:r>
            <a:endParaRPr/>
          </a:p>
        </p:txBody>
      </p:sp>
      <p:pic>
        <p:nvPicPr>
          <p:cNvPr id="284" name="Google Shape;284;p33" title="dx_sweep_benchmark.png"/>
          <p:cNvPicPr preferRelativeResize="0"/>
          <p:nvPr/>
        </p:nvPicPr>
        <p:blipFill>
          <a:blip r:embed="rId4">
            <a:alphaModFix/>
          </a:blip>
          <a:stretch>
            <a:fillRect/>
          </a:stretch>
        </p:blipFill>
        <p:spPr>
          <a:xfrm>
            <a:off x="5279425" y="875400"/>
            <a:ext cx="3138724" cy="3923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4"/>
          <p:cNvSpPr txBox="1"/>
          <p:nvPr>
            <p:ph idx="1" type="body"/>
          </p:nvPr>
        </p:nvSpPr>
        <p:spPr>
          <a:xfrm>
            <a:off x="3006900" y="4372550"/>
            <a:ext cx="31302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Plots of  performance vs  Step number</a:t>
            </a:r>
            <a:endParaRPr/>
          </a:p>
        </p:txBody>
      </p:sp>
      <p:pic>
        <p:nvPicPr>
          <p:cNvPr id="290" name="Google Shape;290;p34" title="ms_per_step_en.png"/>
          <p:cNvPicPr preferRelativeResize="0"/>
          <p:nvPr/>
        </p:nvPicPr>
        <p:blipFill>
          <a:blip r:embed="rId3">
            <a:alphaModFix/>
          </a:blip>
          <a:stretch>
            <a:fillRect/>
          </a:stretch>
        </p:blipFill>
        <p:spPr>
          <a:xfrm>
            <a:off x="578425" y="257017"/>
            <a:ext cx="3130276" cy="1956407"/>
          </a:xfrm>
          <a:prstGeom prst="rect">
            <a:avLst/>
          </a:prstGeom>
          <a:noFill/>
          <a:ln>
            <a:noFill/>
          </a:ln>
        </p:spPr>
      </p:pic>
      <p:pic>
        <p:nvPicPr>
          <p:cNvPr id="291" name="Google Shape;291;p34" title="bandwidth_en.png"/>
          <p:cNvPicPr preferRelativeResize="0"/>
          <p:nvPr/>
        </p:nvPicPr>
        <p:blipFill>
          <a:blip r:embed="rId4">
            <a:alphaModFix/>
          </a:blip>
          <a:stretch>
            <a:fillRect/>
          </a:stretch>
        </p:blipFill>
        <p:spPr>
          <a:xfrm>
            <a:off x="3890124" y="724250"/>
            <a:ext cx="4876924" cy="3048070"/>
          </a:xfrm>
          <a:prstGeom prst="rect">
            <a:avLst/>
          </a:prstGeom>
          <a:noFill/>
          <a:ln>
            <a:noFill/>
          </a:ln>
        </p:spPr>
      </p:pic>
      <p:pic>
        <p:nvPicPr>
          <p:cNvPr id="292" name="Google Shape;292;p34" title="mlups_en.png"/>
          <p:cNvPicPr preferRelativeResize="0"/>
          <p:nvPr/>
        </p:nvPicPr>
        <p:blipFill>
          <a:blip r:embed="rId5">
            <a:alphaModFix/>
          </a:blip>
          <a:stretch>
            <a:fillRect/>
          </a:stretch>
        </p:blipFill>
        <p:spPr>
          <a:xfrm>
            <a:off x="578425" y="2314777"/>
            <a:ext cx="3130280" cy="1956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5"/>
          <p:cNvSpPr txBox="1"/>
          <p:nvPr>
            <p:ph idx="1" type="body"/>
          </p:nvPr>
        </p:nvSpPr>
        <p:spPr>
          <a:xfrm>
            <a:off x="729450" y="2078875"/>
            <a:ext cx="3842700" cy="30645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rPr lang="en"/>
              <a:t>A sensitivity analysis of the CUDA thread block size was performed using 128, 256 and 512 threads per block. The best overall performance was obtained with 256 threads, achieving 47.8 MLUPS, approximately 7% higher than the 512-thread configuration. Kernel-level profiling revealed different behaviors: the collision kernel benefited from smaller blocks (24% speedup from 512 to 256 threads), likely due to increased occupancy and reduced register pressure, whereas the streaming kernel achieved its best performance with larger blocks, suggesting that it is primarily memory-bandwidth limited. Consequently, 256 threads per block represent the best trade-off between compute efficiency in the collision stage and memory throughput in the streaming stage. This also highlights that different kernels exhibit different optimal launch configurations, suggesting that kernel-specific block sizes could provide additional performance improvements.</a:t>
            </a:r>
            <a:endParaRPr/>
          </a:p>
          <a:p>
            <a:pPr indent="0" lvl="0" marL="0" rtl="0" algn="l">
              <a:spcBef>
                <a:spcPts val="1200"/>
              </a:spcBef>
              <a:spcAft>
                <a:spcPts val="1200"/>
              </a:spcAft>
              <a:buNone/>
            </a:pPr>
            <a:r>
              <a:t/>
            </a:r>
            <a:endParaRPr/>
          </a:p>
        </p:txBody>
      </p:sp>
      <p:sp>
        <p:nvSpPr>
          <p:cNvPr id="298" name="Google Shape;298;p35"/>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lang="en" sz="2000">
                <a:solidFill>
                  <a:srgbClr val="000000"/>
                </a:solidFill>
                <a:latin typeface="Arial"/>
                <a:ea typeface="Arial"/>
                <a:cs typeface="Arial"/>
                <a:sym typeface="Arial"/>
              </a:rPr>
              <a:t>Effect of CUDA Block Size and kernel profiling</a:t>
            </a:r>
            <a:endParaRPr sz="2000"/>
          </a:p>
        </p:txBody>
      </p:sp>
      <p:pic>
        <p:nvPicPr>
          <p:cNvPr id="299" name="Google Shape;299;p35" title="blocksize_mlups.png"/>
          <p:cNvPicPr preferRelativeResize="0"/>
          <p:nvPr/>
        </p:nvPicPr>
        <p:blipFill>
          <a:blip r:embed="rId3">
            <a:alphaModFix/>
          </a:blip>
          <a:stretch>
            <a:fillRect/>
          </a:stretch>
        </p:blipFill>
        <p:spPr>
          <a:xfrm>
            <a:off x="4715475" y="2078875"/>
            <a:ext cx="4267050" cy="27309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ph idx="1" type="body"/>
          </p:nvPr>
        </p:nvSpPr>
        <p:spPr>
          <a:xfrm>
            <a:off x="729450" y="2078875"/>
            <a:ext cx="3842700" cy="30645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rPr lang="en"/>
              <a:t>A sensitivity analysis of the CUDA thread block size was performed using 128, 256 and 512 threads per block. The best overall performance was obtained with 256 threads, achieving 47.8 MLUPS, approximately 7% higher than the 512-thread configuration. Kernel-level profiling revealed different behaviors: the collision kernel benefited from smaller blocks (24% speedup from 512 to 256 threads), likely due to increased occupancy and reduced register pressure, whereas the streaming kernel achieved its best performance with larger blocks, suggesting that it is primarily memory-bandwidth limited. Consequently, 256 threads per block represent the best trade-off between compute efficiency in the collision stage and memory throughput in the streaming stage. This also highlights that different kernels exhibit different optimal launch configurations, suggesting that kernel-specific block sizes could provide additional performance improvements. (128 collide - 512 stream)</a:t>
            </a:r>
            <a:endParaRPr/>
          </a:p>
          <a:p>
            <a:pPr indent="0" lvl="0" marL="0" rtl="0" algn="l">
              <a:spcBef>
                <a:spcPts val="1200"/>
              </a:spcBef>
              <a:spcAft>
                <a:spcPts val="1200"/>
              </a:spcAft>
              <a:buNone/>
            </a:pPr>
            <a:r>
              <a:t/>
            </a:r>
            <a:endParaRPr/>
          </a:p>
        </p:txBody>
      </p:sp>
      <p:sp>
        <p:nvSpPr>
          <p:cNvPr id="305" name="Google Shape;305;p36"/>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lang="en" sz="2000">
                <a:solidFill>
                  <a:srgbClr val="000000"/>
                </a:solidFill>
                <a:latin typeface="Arial"/>
                <a:ea typeface="Arial"/>
                <a:cs typeface="Arial"/>
                <a:sym typeface="Arial"/>
              </a:rPr>
              <a:t>Effect of CUDA Block Size and kernel profiling</a:t>
            </a:r>
            <a:endParaRPr sz="2000"/>
          </a:p>
        </p:txBody>
      </p:sp>
      <p:pic>
        <p:nvPicPr>
          <p:cNvPr id="306" name="Google Shape;306;p36" title="kernel_times_vs_blocksize.png"/>
          <p:cNvPicPr preferRelativeResize="0"/>
          <p:nvPr/>
        </p:nvPicPr>
        <p:blipFill>
          <a:blip r:embed="rId3">
            <a:alphaModFix/>
          </a:blip>
          <a:stretch>
            <a:fillRect/>
          </a:stretch>
        </p:blipFill>
        <p:spPr>
          <a:xfrm>
            <a:off x="4724550" y="2078875"/>
            <a:ext cx="4267050" cy="27309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37" title="Screenshot 2026-07-14 alle 17.56.09.png"/>
          <p:cNvPicPr preferRelativeResize="0"/>
          <p:nvPr/>
        </p:nvPicPr>
        <p:blipFill>
          <a:blip r:embed="rId3">
            <a:alphaModFix/>
          </a:blip>
          <a:stretch>
            <a:fillRect/>
          </a:stretch>
        </p:blipFill>
        <p:spPr>
          <a:xfrm>
            <a:off x="1545075" y="0"/>
            <a:ext cx="6053874" cy="4808224"/>
          </a:xfrm>
          <a:prstGeom prst="rect">
            <a:avLst/>
          </a:prstGeom>
          <a:noFill/>
          <a:ln>
            <a:noFill/>
          </a:ln>
        </p:spPr>
      </p:pic>
      <p:sp>
        <p:nvSpPr>
          <p:cNvPr id="312" name="Google Shape;312;p37"/>
          <p:cNvSpPr txBox="1"/>
          <p:nvPr>
            <p:ph idx="1" type="body"/>
          </p:nvPr>
        </p:nvSpPr>
        <p:spPr>
          <a:xfrm>
            <a:off x="723313" y="4465901"/>
            <a:ext cx="7697400" cy="46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Example of a run on a </a:t>
            </a:r>
            <a:r>
              <a:rPr lang="en" u="sng">
                <a:solidFill>
                  <a:schemeClr val="accent5"/>
                </a:solidFill>
                <a:hlinkClick r:id="rId4">
                  <a:extLst>
                    <a:ext uri="{A12FA001-AC4F-418D-AE19-62706E023703}">
                      <ahyp:hlinkClr val="tx"/>
                    </a:ext>
                  </a:extLst>
                </a:hlinkClick>
              </a:rPr>
              <a:t>cip.pool.fau.de</a:t>
            </a:r>
            <a:r>
              <a:rPr lang="en"/>
              <a:t> computer mounting a Nvidia Geforce RTX 2080 with block size 512</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CUDA Features used</a:t>
            </a:r>
            <a:endParaRPr/>
          </a:p>
        </p:txBody>
      </p:sp>
      <p:sp>
        <p:nvSpPr>
          <p:cNvPr id="318" name="Google Shape;318;p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Cuda Kernels</a:t>
            </a:r>
            <a:endParaRPr/>
          </a:p>
          <a:p>
            <a:pPr indent="-311150" lvl="0" marL="457200" rtl="0" algn="l">
              <a:spcBef>
                <a:spcPts val="0"/>
              </a:spcBef>
              <a:spcAft>
                <a:spcPts val="0"/>
              </a:spcAft>
              <a:buSzPts val="1300"/>
              <a:buChar char="●"/>
            </a:pPr>
            <a:r>
              <a:rPr lang="en"/>
              <a:t>Device Memory (also __constant__)</a:t>
            </a:r>
            <a:endParaRPr/>
          </a:p>
          <a:p>
            <a:pPr indent="-311150" lvl="0" marL="457200" rtl="0" algn="l">
              <a:spcBef>
                <a:spcPts val="0"/>
              </a:spcBef>
              <a:spcAft>
                <a:spcPts val="0"/>
              </a:spcAft>
              <a:buSzPts val="1300"/>
              <a:buChar char="●"/>
            </a:pPr>
            <a:r>
              <a:rPr lang="en"/>
              <a:t>Atomic operations</a:t>
            </a:r>
            <a:endParaRPr/>
          </a:p>
          <a:p>
            <a:pPr indent="-311150" lvl="0" marL="457200" rtl="0" algn="l">
              <a:spcBef>
                <a:spcPts val="0"/>
              </a:spcBef>
              <a:spcAft>
                <a:spcPts val="0"/>
              </a:spcAft>
              <a:buSzPts val="1300"/>
              <a:buChar char="●"/>
            </a:pPr>
            <a:r>
              <a:rPr lang="en"/>
              <a:t>Cuda OpenGL Interoperability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